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274" r:id="rId3"/>
    <p:sldId id="275" r:id="rId5"/>
    <p:sldId id="27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7" r:id="rId14"/>
    <p:sldId id="264" r:id="rId15"/>
    <p:sldId id="265" r:id="rId16"/>
    <p:sldId id="266" r:id="rId17"/>
    <p:sldId id="268" r:id="rId18"/>
    <p:sldId id="269" r:id="rId19"/>
    <p:sldId id="277" r:id="rId20"/>
  </p:sldIdLst>
  <p:sldSz cx="12192000" cy="6858000"/>
  <p:notesSz cx="7103745" cy="10234295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0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60F6"/>
    <a:srgbClr val="008BF9"/>
    <a:srgbClr val="1941F4"/>
    <a:srgbClr val="56B1F7"/>
    <a:srgbClr val="213DFF"/>
    <a:srgbClr val="2740FF"/>
    <a:srgbClr val="202020"/>
    <a:srgbClr val="B2B2B2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1980"/>
        <p:guide pos="38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32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</a:fld>
            <a:endParaRPr lang="zh-CN" altLang="en-US"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</a:fld>
            <a:endParaRPr lang="zh-CN" altLang="en-US"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defRPr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defRPr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703020204020201" charset="-122"/>
        <a:ea typeface="微软雅黑" panose="020B0703020204020201" charset="-122"/>
        <a:cs typeface="微软雅黑" panose="020B07030202040202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703020204020201" charset="-122"/>
        <a:ea typeface="微软雅黑" panose="020B0703020204020201" charset="-122"/>
        <a:cs typeface="微软雅黑" panose="020B07030202040202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703020204020201" charset="-122"/>
        <a:ea typeface="微软雅黑" panose="020B0703020204020201" charset="-122"/>
        <a:cs typeface="微软雅黑" panose="020B07030202040202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703020204020201" charset="-122"/>
        <a:ea typeface="微软雅黑" panose="020B0703020204020201" charset="-122"/>
        <a:cs typeface="微软雅黑" panose="020B07030202040202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703020204020201" charset="-122"/>
        <a:ea typeface="微软雅黑" panose="020B0703020204020201" charset="-122"/>
        <a:cs typeface="微软雅黑" panose="020B07030202040202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6_9@2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_9 拷贝@2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6_9 拷贝 2@2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3335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_9 拷贝 4@2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_9 拷贝 7@2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_9 拷贝 8@2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微软雅黑" panose="020B0703020204020201" charset="-122"/>
          <a:ea typeface="微软雅黑" panose="020B0703020204020201" charset="-122"/>
          <a:cs typeface="微软雅黑" panose="020B07030202040202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微软雅黑" panose="020B0703020204020201" charset="-122"/>
          <a:ea typeface="微软雅黑" panose="020B0703020204020201" charset="-122"/>
          <a:cs typeface="微软雅黑" panose="020B07030202040202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微软雅黑" panose="020B0703020204020201" charset="-122"/>
          <a:ea typeface="微软雅黑" panose="020B0703020204020201" charset="-122"/>
          <a:cs typeface="微软雅黑" panose="020B07030202040202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微软雅黑" panose="020B0703020204020201" charset="-122"/>
          <a:ea typeface="微软雅黑" panose="020B0703020204020201" charset="-122"/>
          <a:cs typeface="微软雅黑" panose="020B07030202040202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微软雅黑" panose="020B0703020204020201" charset="-122"/>
          <a:ea typeface="微软雅黑" panose="020B0703020204020201" charset="-122"/>
          <a:cs typeface="微软雅黑" panose="020B07030202040202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微软雅黑" panose="020B0703020204020201" charset="-122"/>
          <a:ea typeface="微软雅黑" panose="020B0703020204020201" charset="-122"/>
          <a:cs typeface="微软雅黑" panose="020B07030202040202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5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9.xml"/><Relationship Id="rId1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0.xml"/><Relationship Id="rId2" Type="http://schemas.openxmlformats.org/officeDocument/2006/relationships/image" Target="../media/image7.sv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1.xml"/><Relationship Id="rId2" Type="http://schemas.openxmlformats.org/officeDocument/2006/relationships/image" Target="../media/image7.sv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2.xml"/><Relationship Id="rId1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3.xml"/><Relationship Id="rId2" Type="http://schemas.openxmlformats.org/officeDocument/2006/relationships/image" Target="../media/image7.sv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4.xml"/><Relationship Id="rId2" Type="http://schemas.openxmlformats.org/officeDocument/2006/relationships/image" Target="../media/image7.sv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5.xml"/><Relationship Id="rId2" Type="http://schemas.openxmlformats.org/officeDocument/2006/relationships/image" Target="../media/image7.sv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6.xml"/><Relationship Id="rId2" Type="http://schemas.openxmlformats.org/officeDocument/2006/relationships/image" Target="../media/image7.sv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7.xml"/><Relationship Id="rId2" Type="http://schemas.openxmlformats.org/officeDocument/2006/relationships/image" Target="../media/image7.sv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8.xml"/><Relationship Id="rId2" Type="http://schemas.openxmlformats.org/officeDocument/2006/relationships/image" Target="../media/image7.sv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9.xml"/><Relationship Id="rId2" Type="http://schemas.openxmlformats.org/officeDocument/2006/relationships/image" Target="../media/image7.sv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30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7.sv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31.xml"/><Relationship Id="rId2" Type="http://schemas.openxmlformats.org/officeDocument/2006/relationships/image" Target="../media/image7.sv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59765" y="4498340"/>
            <a:ext cx="359283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gradFill>
                  <a:gsLst>
                    <a:gs pos="0">
                      <a:srgbClr val="008BF9"/>
                    </a:gs>
                    <a:gs pos="100000">
                      <a:srgbClr val="1941F4"/>
                    </a:gs>
                  </a:gsLst>
                  <a:lin ang="7200000" scaled="0"/>
                </a:gradFill>
                <a:uFillTx/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—— </a:t>
            </a:r>
            <a:r>
              <a:rPr kumimoji="1" lang="zh-CN" altLang="en-US" sz="3600" b="1" dirty="0">
                <a:gradFill>
                  <a:gsLst>
                    <a:gs pos="0">
                      <a:srgbClr val="008BF9"/>
                    </a:gs>
                    <a:gs pos="100000">
                      <a:srgbClr val="1941F4"/>
                    </a:gs>
                  </a:gsLst>
                  <a:lin ang="7200000" scaled="0"/>
                </a:gradFill>
                <a:uFillTx/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智能体赛道</a:t>
            </a:r>
            <a:endParaRPr kumimoji="1" lang="zh-CN" altLang="en-US" sz="3600" b="1" dirty="0">
              <a:gradFill>
                <a:gsLst>
                  <a:gs pos="0">
                    <a:srgbClr val="008BF9"/>
                  </a:gs>
                  <a:gs pos="100000">
                    <a:srgbClr val="1941F4"/>
                  </a:gs>
                </a:gsLst>
                <a:lin ang="7200000" scaled="0"/>
              </a:gradFill>
              <a:uFillTx/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59765" y="1813560"/>
            <a:ext cx="7040880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5400" b="1" dirty="0">
                <a:gradFill>
                  <a:gsLst>
                    <a:gs pos="0">
                      <a:srgbClr val="008BF9"/>
                    </a:gs>
                    <a:gs pos="100000">
                      <a:srgbClr val="1941F4"/>
                    </a:gs>
                  </a:gsLst>
                  <a:lin ang="7200000" scaled="0"/>
                </a:gradFill>
                <a:uFillTx/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AI </a:t>
            </a:r>
            <a:r>
              <a:rPr kumimoji="1" lang="zh-CN" altLang="en-US" sz="5400" b="1" dirty="0">
                <a:gradFill>
                  <a:gsLst>
                    <a:gs pos="0">
                      <a:srgbClr val="008BF9"/>
                    </a:gs>
                    <a:gs pos="100000">
                      <a:srgbClr val="1941F4"/>
                    </a:gs>
                  </a:gsLst>
                  <a:lin ang="7200000" scaled="0"/>
                </a:gradFill>
                <a:uFillTx/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财运助手</a:t>
            </a:r>
            <a:endParaRPr kumimoji="1" lang="en-US" altLang="zh-CN" sz="5400" b="1" dirty="0">
              <a:gradFill>
                <a:gsLst>
                  <a:gs pos="0">
                    <a:srgbClr val="008BF9"/>
                  </a:gs>
                  <a:gs pos="100000">
                    <a:srgbClr val="1941F4"/>
                  </a:gs>
                </a:gsLst>
                <a:lin ang="7200000" scaled="0"/>
              </a:gradFill>
              <a:uFillTx/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  <a:p>
            <a:pPr algn="l"/>
            <a:r>
              <a:rPr kumimoji="1" lang="zh-CN" altLang="en-US" sz="5400" b="1" dirty="0">
                <a:gradFill>
                  <a:gsLst>
                    <a:gs pos="0">
                      <a:srgbClr val="008BF9"/>
                    </a:gs>
                    <a:gs pos="100000">
                      <a:srgbClr val="1941F4"/>
                    </a:gs>
                  </a:gsLst>
                  <a:lin ang="7200000" scaled="0"/>
                </a:gradFill>
                <a:uFillTx/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财务智能运维助手平台</a:t>
            </a:r>
            <a:endParaRPr kumimoji="1" lang="zh-CN" altLang="en-US" sz="5400" b="1" dirty="0">
              <a:gradFill>
                <a:gsLst>
                  <a:gs pos="0">
                    <a:srgbClr val="008BF9"/>
                  </a:gs>
                  <a:gs pos="100000">
                    <a:srgbClr val="1941F4"/>
                  </a:gs>
                </a:gsLst>
                <a:lin ang="7200000" scaled="0"/>
              </a:gradFill>
              <a:uFillTx/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3" name="矩形 2"/>
          <p:cNvSpPr/>
          <p:nvPr/>
        </p:nvSpPr>
        <p:spPr>
          <a:xfrm flipV="1">
            <a:off x="747395" y="3752215"/>
            <a:ext cx="1049655" cy="36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9765" y="5464175"/>
            <a:ext cx="20307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</a:rPr>
              <a:t>日期：</a:t>
            </a:r>
            <a:r>
              <a:rPr lang="en-US" altLang="zh-CN" b="1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</a:rPr>
              <a:t>2026</a:t>
            </a:r>
            <a:r>
              <a:rPr lang="zh-CN" altLang="en-US" b="1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</a:rPr>
              <a:t>年</a:t>
            </a:r>
            <a:r>
              <a:rPr lang="en-US" altLang="zh-CN" b="1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</a:rPr>
              <a:t>9</a:t>
            </a:r>
            <a:r>
              <a:rPr lang="zh-CN" altLang="en-US" b="1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</a:rPr>
              <a:t>月</a:t>
            </a:r>
            <a:endParaRPr lang="zh-CN" altLang="en-US" b="1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9765" y="4340225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</a:rPr>
              <a:t>工作</a:t>
            </a:r>
            <a:r>
              <a:rPr lang="zh-CN" altLang="en-US" sz="2000" b="1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</a:rPr>
              <a:t>克隆人</a:t>
            </a:r>
            <a:endParaRPr lang="zh-CN" altLang="en-US" sz="2000" b="1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7705" y="1053465"/>
            <a:ext cx="74618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800" b="1" dirty="0">
                <a:gradFill>
                  <a:gsLst>
                    <a:gs pos="0">
                      <a:srgbClr val="008BF9"/>
                    </a:gs>
                    <a:gs pos="100000">
                      <a:srgbClr val="1941F4"/>
                    </a:gs>
                  </a:gsLst>
                  <a:lin ang="7200000" scaled="0"/>
                </a:gradFill>
                <a:uFillTx/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目录｜</a:t>
            </a:r>
            <a:r>
              <a:rPr kumimoji="1" lang="en-GB" altLang="zh-CN" sz="4800" b="1" dirty="0">
                <a:gradFill>
                  <a:gsLst>
                    <a:gs pos="0">
                      <a:srgbClr val="008BF9"/>
                    </a:gs>
                    <a:gs pos="100000">
                      <a:srgbClr val="1941F4"/>
                    </a:gs>
                  </a:gsLst>
                  <a:lin ang="7200000" scaled="0"/>
                </a:gradFill>
                <a:uFillTx/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Catalogues</a:t>
            </a:r>
            <a:r>
              <a:rPr kumimoji="1" lang="en-GB" altLang="zh-CN" sz="4800" b="1" spc="300" dirty="0">
                <a:gradFill>
                  <a:gsLst>
                    <a:gs pos="0">
                      <a:srgbClr val="008BF9"/>
                    </a:gs>
                    <a:gs pos="100000">
                      <a:srgbClr val="1941F4"/>
                    </a:gs>
                  </a:gsLst>
                  <a:lin ang="7200000" scaled="0"/>
                </a:gra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</a:t>
            </a:r>
            <a:endParaRPr kumimoji="1" lang="en-GB" altLang="zh-CN" sz="4800" b="1" spc="300" dirty="0">
              <a:gradFill>
                <a:gsLst>
                  <a:gs pos="0">
                    <a:srgbClr val="008BF9"/>
                  </a:gs>
                  <a:gs pos="100000">
                    <a:srgbClr val="1941F4"/>
                  </a:gs>
                </a:gsLst>
                <a:lin ang="7200000" scaled="0"/>
              </a:gra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585595" y="2839720"/>
            <a:ext cx="295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400" b="1" dirty="0">
                <a:solidFill>
                  <a:schemeClr val="bg2">
                    <a:lumMod val="10000"/>
                  </a:schemeClr>
                </a:solidFill>
                <a:latin typeface="微软雅黑" panose="020B0703020204020201" charset="-122"/>
                <a:ea typeface="微软雅黑" panose="020B0703020204020201" charset="-122"/>
                <a:cs typeface="Alibaba PuHuiTi R" pitchFamily="18" charset="-122"/>
              </a:rPr>
              <a:t>团队介绍</a:t>
            </a:r>
            <a:endParaRPr kumimoji="1" lang="zh-CN" altLang="en-US" sz="2400" b="1" dirty="0">
              <a:solidFill>
                <a:schemeClr val="bg2">
                  <a:lumMod val="10000"/>
                </a:schemeClr>
              </a:solidFill>
              <a:latin typeface="微软雅黑" panose="020B0703020204020201" charset="-122"/>
              <a:ea typeface="微软雅黑" panose="020B0703020204020201" charset="-122"/>
              <a:cs typeface="Alibaba PuHuiTi R" pitchFamily="18" charset="-122"/>
            </a:endParaRPr>
          </a:p>
        </p:txBody>
      </p:sp>
      <p:sp>
        <p:nvSpPr>
          <p:cNvPr id="5" name="矩形 4"/>
          <p:cNvSpPr/>
          <p:nvPr/>
        </p:nvSpPr>
        <p:spPr>
          <a:xfrm flipV="1">
            <a:off x="833755" y="2058670"/>
            <a:ext cx="4692650" cy="41275"/>
          </a:xfrm>
          <a:prstGeom prst="rect">
            <a:avLst/>
          </a:prstGeom>
          <a:gradFill>
            <a:gsLst>
              <a:gs pos="0">
                <a:srgbClr val="008BF9">
                  <a:alpha val="0"/>
                </a:srgbClr>
              </a:gs>
              <a:gs pos="99000">
                <a:srgbClr val="2740FF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200"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07085" y="2714625"/>
            <a:ext cx="626110" cy="6264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3000">
                <a:srgbClr val="213DFF">
                  <a:alpha val="0"/>
                </a:srgbClr>
              </a:gs>
              <a:gs pos="100000">
                <a:srgbClr val="7AFEFE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innerShdw blurRad="254000" dist="88900">
              <a:srgbClr val="7AFEFE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en-US" altLang="zh-CN" sz="2400" b="1" spc="-150" dirty="0"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585595" y="3841750"/>
            <a:ext cx="295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400" b="1" dirty="0">
                <a:solidFill>
                  <a:schemeClr val="bg2">
                    <a:lumMod val="10000"/>
                  </a:schemeClr>
                </a:solidFill>
                <a:latin typeface="微软雅黑" panose="020B0703020204020201" charset="-122"/>
                <a:ea typeface="微软雅黑" panose="020B0703020204020201" charset="-122"/>
                <a:cs typeface="Alibaba PuHuiTi R" pitchFamily="18" charset="-122"/>
              </a:rPr>
              <a:t>项目成效</a:t>
            </a:r>
            <a:endParaRPr kumimoji="1" lang="zh-CN" altLang="en-US" sz="2400" b="1" dirty="0">
              <a:solidFill>
                <a:schemeClr val="bg2">
                  <a:lumMod val="10000"/>
                </a:schemeClr>
              </a:solidFill>
              <a:latin typeface="微软雅黑" panose="020B0703020204020201" charset="-122"/>
              <a:ea typeface="微软雅黑" panose="020B0703020204020201" charset="-122"/>
              <a:cs typeface="Alibaba PuHuiTi R" pitchFamily="18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6148705" y="2839720"/>
            <a:ext cx="295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400" b="1" dirty="0">
                <a:solidFill>
                  <a:schemeClr val="bg2">
                    <a:lumMod val="10000"/>
                  </a:schemeClr>
                </a:solidFill>
                <a:latin typeface="微软雅黑" panose="020B0703020204020201" charset="-122"/>
                <a:ea typeface="微软雅黑" panose="020B0703020204020201" charset="-122"/>
                <a:cs typeface="Alibaba PuHuiTi R" pitchFamily="18" charset="-122"/>
                <a:sym typeface="+mn-ea"/>
              </a:rPr>
              <a:t>项目背景</a:t>
            </a:r>
            <a:endParaRPr kumimoji="1" lang="zh-CN" altLang="en-US" sz="2400" b="1" dirty="0">
              <a:solidFill>
                <a:schemeClr val="bg2">
                  <a:lumMod val="10000"/>
                </a:schemeClr>
              </a:solidFill>
              <a:latin typeface="微软雅黑" panose="020B0703020204020201" charset="-122"/>
              <a:ea typeface="微软雅黑" panose="020B0703020204020201" charset="-122"/>
              <a:cs typeface="Alibaba PuHuiTi R" pitchFamily="18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6148705" y="3841750"/>
            <a:ext cx="295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400" b="1" dirty="0">
                <a:solidFill>
                  <a:schemeClr val="bg2">
                    <a:lumMod val="10000"/>
                  </a:schemeClr>
                </a:solidFill>
                <a:latin typeface="微软雅黑" panose="020B0703020204020201" charset="-122"/>
                <a:ea typeface="微软雅黑" panose="020B0703020204020201" charset="-122"/>
                <a:cs typeface="Alibaba PuHuiTi R" pitchFamily="18" charset="-122"/>
                <a:sym typeface="+mn-ea"/>
              </a:rPr>
              <a:t>项目方案</a:t>
            </a:r>
            <a:endParaRPr kumimoji="1" lang="zh-CN" altLang="en-US" sz="2400" b="1" dirty="0">
              <a:solidFill>
                <a:schemeClr val="bg2">
                  <a:lumMod val="10000"/>
                </a:schemeClr>
              </a:solidFill>
              <a:latin typeface="微软雅黑" panose="020B0703020204020201" charset="-122"/>
              <a:ea typeface="微软雅黑" panose="020B0703020204020201" charset="-122"/>
              <a:cs typeface="Alibaba PuHuiTi R" pitchFamily="18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849630" y="2766695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lang="en-US" altLang="zh-CN" sz="2800" b="1" dirty="0">
                <a:solidFill>
                  <a:srgbClr val="008BF9"/>
                </a:solidFill>
                <a:uFillTx/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01</a:t>
            </a:r>
            <a:endParaRPr kumimoji="1" lang="en-US" altLang="zh-CN" sz="2800" b="1" dirty="0">
              <a:solidFill>
                <a:srgbClr val="008BF9"/>
              </a:solidFill>
              <a:uFillTx/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  <a:sym typeface="+mn-ea"/>
            </a:endParaRPr>
          </a:p>
        </p:txBody>
      </p:sp>
      <p:sp>
        <p:nvSpPr>
          <p:cNvPr id="13" name="圆角矩形 12"/>
          <p:cNvSpPr/>
          <p:nvPr>
            <p:custDataLst>
              <p:tags r:id="rId7"/>
            </p:custDataLst>
          </p:nvPr>
        </p:nvSpPr>
        <p:spPr>
          <a:xfrm>
            <a:off x="5398135" y="2733040"/>
            <a:ext cx="626110" cy="6264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3000">
                <a:srgbClr val="213DFF">
                  <a:alpha val="0"/>
                </a:srgbClr>
              </a:gs>
              <a:gs pos="100000">
                <a:srgbClr val="7AFEFE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innerShdw blurRad="254000" dist="88900">
              <a:srgbClr val="7AFEFE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en-US" altLang="zh-CN" sz="2400" b="1" spc="-150" dirty="0"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5420360" y="2785110"/>
            <a:ext cx="6108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lang="en-US" altLang="zh-CN" sz="2800" b="1" dirty="0">
                <a:solidFill>
                  <a:srgbClr val="008BF9"/>
                </a:solidFill>
                <a:uFillTx/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02</a:t>
            </a:r>
            <a:endParaRPr kumimoji="1" lang="en-US" altLang="zh-CN" sz="2800" b="1" dirty="0">
              <a:solidFill>
                <a:srgbClr val="008BF9"/>
              </a:solidFill>
              <a:uFillTx/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  <a:sym typeface="+mn-ea"/>
            </a:endParaRPr>
          </a:p>
        </p:txBody>
      </p:sp>
      <p:sp>
        <p:nvSpPr>
          <p:cNvPr id="20" name="圆角矩形 19"/>
          <p:cNvSpPr/>
          <p:nvPr>
            <p:custDataLst>
              <p:tags r:id="rId9"/>
            </p:custDataLst>
          </p:nvPr>
        </p:nvSpPr>
        <p:spPr>
          <a:xfrm>
            <a:off x="819785" y="3761105"/>
            <a:ext cx="626110" cy="6264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3000">
                <a:srgbClr val="213DFF">
                  <a:alpha val="0"/>
                </a:srgbClr>
              </a:gs>
              <a:gs pos="100000">
                <a:srgbClr val="7AFEFE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innerShdw blurRad="254000" dist="88900">
              <a:srgbClr val="7AFEFE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en-US" altLang="zh-CN" sz="2400" b="1" spc="-150" dirty="0"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0"/>
            </p:custDataLst>
          </p:nvPr>
        </p:nvSpPr>
        <p:spPr>
          <a:xfrm>
            <a:off x="842010" y="3813175"/>
            <a:ext cx="6108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lang="en-US" altLang="zh-CN" sz="2800" b="1" dirty="0">
                <a:solidFill>
                  <a:srgbClr val="008BF9"/>
                </a:solidFill>
                <a:uFillTx/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03</a:t>
            </a:r>
            <a:endParaRPr kumimoji="1" lang="en-US" altLang="zh-CN" sz="2800" b="1" dirty="0">
              <a:solidFill>
                <a:srgbClr val="008BF9"/>
              </a:solidFill>
              <a:uFillTx/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  <a:sym typeface="+mn-ea"/>
            </a:endParaRPr>
          </a:p>
        </p:txBody>
      </p:sp>
      <p:sp>
        <p:nvSpPr>
          <p:cNvPr id="22" name="圆角矩形 21"/>
          <p:cNvSpPr/>
          <p:nvPr>
            <p:custDataLst>
              <p:tags r:id="rId11"/>
            </p:custDataLst>
          </p:nvPr>
        </p:nvSpPr>
        <p:spPr>
          <a:xfrm>
            <a:off x="5427980" y="3761105"/>
            <a:ext cx="626110" cy="6264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3000">
                <a:srgbClr val="213DFF">
                  <a:alpha val="0"/>
                </a:srgbClr>
              </a:gs>
              <a:gs pos="100000">
                <a:srgbClr val="7AFEFE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innerShdw blurRad="254000" dist="88900">
              <a:srgbClr val="7AFEFE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en-US" altLang="zh-CN" sz="2400" b="1" spc="-150" dirty="0"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5450205" y="3813175"/>
            <a:ext cx="6108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lang="en-US" altLang="zh-CN" sz="2800" b="1" dirty="0">
                <a:solidFill>
                  <a:srgbClr val="008BF9"/>
                </a:solidFill>
                <a:uFillTx/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04</a:t>
            </a:r>
            <a:endParaRPr kumimoji="1" lang="en-US" altLang="zh-CN" sz="2800" b="1" dirty="0">
              <a:solidFill>
                <a:srgbClr val="008BF9"/>
              </a:solidFill>
              <a:uFillTx/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1585595" y="4836160"/>
            <a:ext cx="295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400" b="1" dirty="0">
                <a:solidFill>
                  <a:schemeClr val="bg2">
                    <a:lumMod val="10000"/>
                  </a:schemeClr>
                </a:solidFill>
                <a:latin typeface="微软雅黑" panose="020B0703020204020201" charset="-122"/>
                <a:ea typeface="微软雅黑" panose="020B0703020204020201" charset="-122"/>
                <a:cs typeface="Alibaba PuHuiTi R" pitchFamily="18" charset="-122"/>
              </a:rPr>
              <a:t>项目展示</a:t>
            </a:r>
            <a:endParaRPr kumimoji="1" lang="zh-CN" altLang="en-US" sz="2400" b="1" dirty="0">
              <a:solidFill>
                <a:schemeClr val="bg2">
                  <a:lumMod val="10000"/>
                </a:schemeClr>
              </a:solidFill>
              <a:latin typeface="微软雅黑" panose="020B0703020204020201" charset="-122"/>
              <a:ea typeface="微软雅黑" panose="020B0703020204020201" charset="-122"/>
              <a:cs typeface="Alibaba PuHuiTi R" pitchFamily="18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4"/>
            </p:custDataLst>
          </p:nvPr>
        </p:nvSpPr>
        <p:spPr>
          <a:xfrm>
            <a:off x="6148705" y="4836160"/>
            <a:ext cx="295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400" b="1" dirty="0">
                <a:solidFill>
                  <a:schemeClr val="bg2">
                    <a:lumMod val="10000"/>
                  </a:schemeClr>
                </a:solidFill>
                <a:latin typeface="微软雅黑" panose="020B0703020204020201" charset="-122"/>
                <a:ea typeface="微软雅黑" panose="020B0703020204020201" charset="-122"/>
                <a:cs typeface="Alibaba PuHuiTi R" pitchFamily="18" charset="-122"/>
                <a:sym typeface="+mn-ea"/>
              </a:rPr>
              <a:t>其他</a:t>
            </a:r>
            <a:r>
              <a:rPr kumimoji="1" lang="zh-CN" altLang="en-US" sz="2400" b="1" dirty="0">
                <a:solidFill>
                  <a:schemeClr val="bg2">
                    <a:lumMod val="10000"/>
                  </a:schemeClr>
                </a:solidFill>
                <a:latin typeface="微软雅黑" panose="020B0703020204020201" charset="-122"/>
                <a:ea typeface="微软雅黑" panose="020B0703020204020201" charset="-122"/>
                <a:cs typeface="Alibaba PuHuiTi R" pitchFamily="18" charset="-122"/>
                <a:sym typeface="+mn-ea"/>
              </a:rPr>
              <a:t>材料</a:t>
            </a:r>
            <a:endParaRPr kumimoji="1" lang="zh-CN" altLang="en-US" sz="2400" b="1" dirty="0">
              <a:solidFill>
                <a:schemeClr val="bg2">
                  <a:lumMod val="10000"/>
                </a:schemeClr>
              </a:solidFill>
              <a:latin typeface="微软雅黑" panose="020B0703020204020201" charset="-122"/>
              <a:ea typeface="微软雅黑" panose="020B0703020204020201" charset="-122"/>
              <a:cs typeface="Alibaba PuHuiTi R" pitchFamily="18" charset="-122"/>
              <a:sym typeface="+mn-ea"/>
            </a:endParaRPr>
          </a:p>
        </p:txBody>
      </p:sp>
      <p:sp>
        <p:nvSpPr>
          <p:cNvPr id="9" name="圆角矩形 8"/>
          <p:cNvSpPr/>
          <p:nvPr>
            <p:custDataLst>
              <p:tags r:id="rId15"/>
            </p:custDataLst>
          </p:nvPr>
        </p:nvSpPr>
        <p:spPr>
          <a:xfrm>
            <a:off x="819785" y="4755515"/>
            <a:ext cx="626110" cy="6264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3000">
                <a:srgbClr val="213DFF">
                  <a:alpha val="0"/>
                </a:srgbClr>
              </a:gs>
              <a:gs pos="100000">
                <a:srgbClr val="7AFEFE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innerShdw blurRad="254000" dist="88900">
              <a:srgbClr val="7AFEFE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en-US" altLang="zh-CN" sz="2400" b="1" spc="-150" dirty="0"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6"/>
            </p:custDataLst>
          </p:nvPr>
        </p:nvSpPr>
        <p:spPr>
          <a:xfrm>
            <a:off x="842010" y="4807585"/>
            <a:ext cx="6210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lang="en-US" altLang="zh-CN" sz="2800" b="1" dirty="0">
                <a:solidFill>
                  <a:srgbClr val="008BF9"/>
                </a:solidFill>
                <a:uFillTx/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05</a:t>
            </a:r>
            <a:endParaRPr kumimoji="1" lang="en-US" altLang="zh-CN" sz="2800" b="1" dirty="0">
              <a:solidFill>
                <a:srgbClr val="008BF9"/>
              </a:solidFill>
              <a:uFillTx/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  <a:sym typeface="+mn-ea"/>
            </a:endParaRPr>
          </a:p>
        </p:txBody>
      </p:sp>
      <p:sp>
        <p:nvSpPr>
          <p:cNvPr id="11" name="圆角矩形 10"/>
          <p:cNvSpPr/>
          <p:nvPr>
            <p:custDataLst>
              <p:tags r:id="rId17"/>
            </p:custDataLst>
          </p:nvPr>
        </p:nvSpPr>
        <p:spPr>
          <a:xfrm>
            <a:off x="5427980" y="4755515"/>
            <a:ext cx="626110" cy="6264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3000">
                <a:srgbClr val="213DFF">
                  <a:alpha val="0"/>
                </a:srgbClr>
              </a:gs>
              <a:gs pos="100000">
                <a:srgbClr val="7AFEFE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innerShdw blurRad="254000" dist="88900">
              <a:srgbClr val="7AFEFE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en-US" altLang="zh-CN" sz="2400" b="1" spc="-150" dirty="0"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8"/>
            </p:custDataLst>
          </p:nvPr>
        </p:nvSpPr>
        <p:spPr>
          <a:xfrm>
            <a:off x="5450205" y="4807585"/>
            <a:ext cx="6210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lang="en-US" altLang="zh-CN" sz="2800" b="1" dirty="0">
                <a:solidFill>
                  <a:srgbClr val="008BF9"/>
                </a:solidFill>
                <a:uFillTx/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06</a:t>
            </a:r>
            <a:endParaRPr kumimoji="1" lang="en-US" altLang="zh-CN" sz="2800" b="1" dirty="0">
              <a:solidFill>
                <a:srgbClr val="008BF9"/>
              </a:solidFill>
              <a:uFillTx/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/>
          <p:nvPr/>
        </p:nvSpPr>
        <p:spPr>
          <a:xfrm>
            <a:off x="396240" y="322516"/>
            <a:ext cx="4239292" cy="521970"/>
          </a:xfrm>
          <a:prstGeom prst="rect">
            <a:avLst/>
          </a:prstGeom>
          <a:noFill/>
          <a:ln>
            <a:noFill/>
          </a:ln>
        </p:spPr>
        <p:txBody>
          <a:bodyPr wrap="none" lIns="91440" tIns="45810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项目背景</a:t>
            </a:r>
            <a:endParaRPr lang="zh-CN" sz="280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6301" y="418433"/>
            <a:ext cx="250794" cy="330803"/>
            <a:chOff x="126301" y="418433"/>
            <a:chExt cx="250794" cy="330803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6301" y="418433"/>
              <a:ext cx="250793" cy="330803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475488" y="899160"/>
            <a:ext cx="9641776" cy="1061085"/>
            <a:chOff x="475488" y="899160"/>
            <a:chExt cx="9641776" cy="1061085"/>
          </a:xfrm>
        </p:grpSpPr>
        <p:sp>
          <p:nvSpPr>
            <p:cNvPr id="7" name="TextBox 7"/>
            <p:cNvSpPr txBox="1"/>
            <p:nvPr/>
          </p:nvSpPr>
          <p:spPr>
            <a:xfrm>
              <a:off x="475488" y="899160"/>
              <a:ext cx="7587615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企业财务系统持续变化，运维处理依赖顾问的专业判断   </a:t>
              </a:r>
              <a:endParaRPr lang="zh-CN" sz="24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0060" y="1423035"/>
              <a:ext cx="96372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顾问需要理解当前状态、判断影响，并准备后续处理与验证。   </a:t>
              </a:r>
              <a:endParaRPr lang="zh-CN" sz="150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0060" y="1666875"/>
              <a:ext cx="84256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信息分散、影响难判断、经验难复用，使问题处理与交接耗时。   </a:t>
              </a:r>
              <a:endParaRPr lang="zh-CN" sz="150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7680" y="2072640"/>
            <a:ext cx="11216640" cy="487680"/>
            <a:chOff x="487680" y="2072640"/>
            <a:chExt cx="11216640" cy="487680"/>
          </a:xfrm>
        </p:grpSpPr>
        <p:sp>
          <p:nvSpPr>
            <p:cNvPr id="11" name="Rectangle 11"/>
            <p:cNvSpPr/>
            <p:nvPr/>
          </p:nvSpPr>
          <p:spPr>
            <a:xfrm>
              <a:off x="487680" y="2072640"/>
              <a:ext cx="11216640" cy="487680"/>
            </a:xfrm>
            <a:prstGeom prst="rect">
              <a:avLst/>
            </a:prstGeom>
            <a:solidFill>
              <a:srgbClr val="EAF3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2559" y="2207419"/>
              <a:ext cx="166070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业务提出运维目标   </a:t>
              </a:r>
              <a:endParaRPr lang="zh-CN" sz="158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18079" y="2207419"/>
              <a:ext cx="419554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理解现状     评估影响     准备处理   </a:t>
              </a:r>
              <a:endPara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8917" y="2743200"/>
            <a:ext cx="11225403" cy="686658"/>
            <a:chOff x="478917" y="2743200"/>
            <a:chExt cx="11225403" cy="686658"/>
          </a:xfrm>
        </p:grpSpPr>
        <p:sp>
          <p:nvSpPr>
            <p:cNvPr id="15" name="Line 15"/>
            <p:cNvSpPr/>
            <p:nvPr/>
          </p:nvSpPr>
          <p:spPr>
            <a:xfrm>
              <a:off x="487680" y="2743200"/>
              <a:ext cx="11216640" cy="9525"/>
            </a:xfrm>
            <a:custGeom>
              <a:avLst/>
              <a:gdLst/>
              <a:ahLst/>
              <a:cxnLst/>
              <a:rect l="l" t="t" r="r" b="b"/>
              <a:pathLst>
                <a:path w="11216640" h="9525">
                  <a:moveTo>
                    <a:pt x="0" y="0"/>
                  </a:moveTo>
                  <a:lnTo>
                    <a:pt x="1121664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8917" y="2861786"/>
              <a:ext cx="134486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理解现状   </a:t>
              </a:r>
              <a:endParaRPr lang="zh-CN" sz="172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18079" y="2877979"/>
              <a:ext cx="355745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还原当前业务关系与系统状态，   </a:t>
              </a:r>
              <a:endPara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18079" y="3121819"/>
              <a:ext cx="29193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明确本次调查范围。   </a:t>
              </a:r>
              <a:endPara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11999" y="2877979"/>
              <a:ext cx="355745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信息分散在不同载体，查找和   </a:t>
              </a:r>
              <a:endPara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11999" y="3121819"/>
              <a:ext cx="27066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拼接占用大量时间。   </a:t>
              </a:r>
              <a:endPara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78917" y="3535680"/>
            <a:ext cx="11225403" cy="686658"/>
            <a:chOff x="478917" y="3535680"/>
            <a:chExt cx="11225403" cy="686658"/>
          </a:xfrm>
        </p:grpSpPr>
        <p:sp>
          <p:nvSpPr>
            <p:cNvPr id="22" name="Line 22"/>
            <p:cNvSpPr/>
            <p:nvPr/>
          </p:nvSpPr>
          <p:spPr>
            <a:xfrm>
              <a:off x="487680" y="3535680"/>
              <a:ext cx="11216640" cy="9525"/>
            </a:xfrm>
            <a:custGeom>
              <a:avLst/>
              <a:gdLst/>
              <a:ahLst/>
              <a:cxnLst/>
              <a:rect l="l" t="t" r="r" b="b"/>
              <a:pathLst>
                <a:path w="11216640" h="9525">
                  <a:moveTo>
                    <a:pt x="0" y="0"/>
                  </a:moveTo>
                  <a:lnTo>
                    <a:pt x="1121664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8917" y="3654266"/>
              <a:ext cx="15764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评估与复核   </a:t>
              </a:r>
              <a:endParaRPr lang="zh-CN" sz="172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18079" y="3670459"/>
              <a:ext cx="27066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沿依赖关系核对影响，   </a:t>
              </a:r>
              <a:endPara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18079" y="3914299"/>
              <a:ext cx="29193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识别风险与未知项。   </a:t>
              </a:r>
              <a:endPara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11999" y="3670459"/>
              <a:ext cx="355745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发现关联只是起点，结论仍需   </a:t>
              </a:r>
              <a:endPara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11999" y="3914299"/>
              <a:ext cx="313205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结合规则和业务判断。   </a:t>
              </a:r>
              <a:endPara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8917" y="4328160"/>
            <a:ext cx="11225403" cy="686658"/>
            <a:chOff x="478917" y="4328160"/>
            <a:chExt cx="11225403" cy="686658"/>
          </a:xfrm>
        </p:grpSpPr>
        <p:sp>
          <p:nvSpPr>
            <p:cNvPr id="29" name="Line 29"/>
            <p:cNvSpPr/>
            <p:nvPr/>
          </p:nvSpPr>
          <p:spPr>
            <a:xfrm>
              <a:off x="487680" y="4328160"/>
              <a:ext cx="11216640" cy="9525"/>
            </a:xfrm>
            <a:custGeom>
              <a:avLst/>
              <a:gdLst/>
              <a:ahLst/>
              <a:cxnLst/>
              <a:rect l="l" t="t" r="r" b="b"/>
              <a:pathLst>
                <a:path w="11216640" h="9525">
                  <a:moveTo>
                    <a:pt x="0" y="0"/>
                  </a:moveTo>
                  <a:lnTo>
                    <a:pt x="1121664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8917" y="4446746"/>
              <a:ext cx="203950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准备处理与验证   </a:t>
              </a:r>
              <a:endParaRPr lang="zh-CN" sz="172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18079" y="4462939"/>
              <a:ext cx="334475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整理建议、待决定事项   </a:t>
              </a:r>
              <a:endPara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18079" y="4706779"/>
              <a:ext cx="334475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和验证准备。   </a:t>
              </a:r>
              <a:endPara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11999" y="4462939"/>
              <a:ext cx="334475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成果缺少依据和上下文时，   </a:t>
              </a:r>
              <a:endPara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11999" y="4706779"/>
              <a:ext cx="334475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后续复核与交接需要重来。   </a:t>
              </a:r>
              <a:endPara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87680" y="5303520"/>
            <a:ext cx="11216640" cy="545021"/>
            <a:chOff x="487680" y="5303520"/>
            <a:chExt cx="11216640" cy="545021"/>
          </a:xfrm>
        </p:grpSpPr>
        <p:sp>
          <p:nvSpPr>
            <p:cNvPr id="36" name="Rectangle 36"/>
            <p:cNvSpPr/>
            <p:nvPr/>
          </p:nvSpPr>
          <p:spPr>
            <a:xfrm>
              <a:off x="487680" y="5303520"/>
              <a:ext cx="11216640" cy="487680"/>
            </a:xfrm>
            <a:prstGeom prst="rect">
              <a:avLst/>
            </a:prstGeom>
            <a:solidFill>
              <a:srgbClr val="EAF3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2178" y="5338762"/>
              <a:ext cx="70652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重复查找挤占专业判断时间，遗漏或错配可能直接影响业务。   </a:t>
              </a:r>
              <a:endParaRPr lang="zh-CN" sz="165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3702" y="5584508"/>
              <a:ext cx="4675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专业判断难以沉淀，类似需求仍需从头调查。   </a:t>
              </a:r>
              <a:endParaRPr lang="zh-CN" sz="135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198864" y="2247900"/>
            <a:ext cx="1732636" cy="234696"/>
            <a:chOff x="9198864" y="2247900"/>
            <a:chExt cx="1732636" cy="234696"/>
          </a:xfrm>
        </p:grpSpPr>
        <p:sp>
          <p:nvSpPr>
            <p:cNvPr id="40" name="TextBox 40"/>
            <p:cNvSpPr txBox="1"/>
            <p:nvPr/>
          </p:nvSpPr>
          <p:spPr>
            <a:xfrm>
              <a:off x="9198864" y="2247900"/>
              <a:ext cx="1732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5758A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来源：功能顾问访谈   </a:t>
              </a:r>
              <a:endParaRPr lang="zh-CN" sz="1200" dirty="0">
                <a:solidFill>
                  <a:srgbClr val="65758A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150727" y="5929789"/>
            <a:ext cx="669544" cy="190690"/>
            <a:chOff x="11150727" y="5929789"/>
            <a:chExt cx="669544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11150727" y="592978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02 / 15   </a:t>
              </a:r>
              <a:endParaRPr lang="en-US" sz="980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/>
          <p:nvPr/>
        </p:nvSpPr>
        <p:spPr>
          <a:xfrm>
            <a:off x="396240" y="322516"/>
            <a:ext cx="4239292" cy="521970"/>
          </a:xfrm>
          <a:prstGeom prst="rect">
            <a:avLst/>
          </a:prstGeom>
          <a:noFill/>
          <a:ln>
            <a:noFill/>
          </a:ln>
        </p:spPr>
        <p:txBody>
          <a:bodyPr wrap="none" lIns="91440" tIns="45810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典型场景</a:t>
            </a:r>
            <a:endParaRPr lang="zh-CN" sz="280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6301" y="418433"/>
            <a:ext cx="250794" cy="330803"/>
            <a:chOff x="126301" y="418433"/>
            <a:chExt cx="250794" cy="330803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6301" y="418433"/>
              <a:ext cx="250793" cy="330803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475488" y="899160"/>
            <a:ext cx="7692070" cy="469392"/>
            <a:chOff x="475488" y="899160"/>
            <a:chExt cx="7692070" cy="469392"/>
          </a:xfrm>
        </p:grpSpPr>
        <p:sp>
          <p:nvSpPr>
            <p:cNvPr id="7" name="TextBox 7"/>
            <p:cNvSpPr txBox="1"/>
            <p:nvPr/>
          </p:nvSpPr>
          <p:spPr>
            <a:xfrm>
              <a:off x="475488" y="899160"/>
              <a:ext cx="769207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人员离任后的审批配置排查   </a:t>
              </a:r>
              <a:endParaRPr lang="zh-CN" sz="24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68630" y="1828800"/>
            <a:ext cx="4516100" cy="3962400"/>
            <a:chOff x="468630" y="1828800"/>
            <a:chExt cx="4516100" cy="3962400"/>
          </a:xfrm>
        </p:grpSpPr>
        <p:sp>
          <p:nvSpPr>
            <p:cNvPr id="9" name="TextBox 9"/>
            <p:cNvSpPr txBox="1"/>
            <p:nvPr/>
          </p:nvSpPr>
          <p:spPr>
            <a:xfrm>
              <a:off x="468630" y="1993392"/>
              <a:ext cx="4516100" cy="1664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40" dirty="0">
                  <a:solidFill>
                    <a:srgbClr val="003FA9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200+   </a:t>
              </a:r>
              <a:endParaRPr lang="en-US" sz="8640" dirty="0">
                <a:solidFill>
                  <a:srgbClr val="003FA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7774" y="3081338"/>
              <a:ext cx="25746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条流程需人工排查   </a:t>
              </a:r>
              <a:endParaRPr lang="zh-CN" sz="195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9298" y="3540443"/>
              <a:ext cx="21785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某次人员离任事件   </a:t>
              </a:r>
              <a:endParaRPr lang="zh-CN" sz="165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8917" y="3837146"/>
              <a:ext cx="202040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排查范围不等于   </a:t>
              </a:r>
              <a:endParaRPr lang="zh-CN" sz="172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8917" y="4141946"/>
              <a:ext cx="202040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确认影响数量。   </a:t>
              </a:r>
              <a:endParaRPr lang="zh-CN" sz="172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0822" y="4731068"/>
              <a:ext cx="2857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无法直接识别其负责的全部审批   </a:t>
              </a:r>
              <a:endParaRPr lang="zh-CN" sz="135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0822" y="4974908"/>
              <a:ext cx="2857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流，顾问只能逐项检查，定位需   </a:t>
              </a:r>
              <a:endParaRPr lang="zh-CN" sz="135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0822" y="5218748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要复核的配置。   </a:t>
              </a:r>
              <a:endParaRPr lang="zh-CN" sz="135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3291840" y="182880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404997" y="1828800"/>
            <a:ext cx="9233535" cy="1655445"/>
            <a:chOff x="3404997" y="1828800"/>
            <a:chExt cx="9233535" cy="1655445"/>
          </a:xfrm>
        </p:grpSpPr>
        <p:sp>
          <p:nvSpPr>
            <p:cNvPr id="19" name="Line 19"/>
            <p:cNvSpPr/>
            <p:nvPr/>
          </p:nvSpPr>
          <p:spPr>
            <a:xfrm>
              <a:off x="3413760" y="1828800"/>
              <a:ext cx="8290560" cy="9525"/>
            </a:xfrm>
            <a:custGeom>
              <a:avLst/>
              <a:gdLst/>
              <a:ahLst/>
              <a:cxnLst/>
              <a:rect l="l" t="t" r="r" b="b"/>
              <a:pathLst>
                <a:path w="8290560" h="9525">
                  <a:moveTo>
                    <a:pt x="0" y="0"/>
                  </a:moveTo>
                  <a:lnTo>
                    <a:pt x="829056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404997" y="1947386"/>
              <a:ext cx="236714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人员 / 组织 / 角色   </a:t>
              </a:r>
              <a:endParaRPr lang="zh-CN" sz="172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06902" y="2292668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身份与职责关系   </a:t>
              </a:r>
              <a:endParaRPr lang="zh-CN" sz="135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74917" y="1947386"/>
              <a:ext cx="134486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审批配置   </a:t>
              </a:r>
              <a:endParaRPr lang="zh-CN" sz="172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76822" y="2292668"/>
              <a:ext cx="19492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直接引用与间接依赖   </a:t>
              </a:r>
              <a:endParaRPr lang="zh-CN" sz="135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18117" y="1947386"/>
              <a:ext cx="236714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流程 / 条件 / 版本   </a:t>
              </a:r>
              <a:endParaRPr lang="zh-CN" sz="172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20022" y="2292668"/>
              <a:ext cx="1404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适用性与覆盖   </a:t>
              </a:r>
              <a:endParaRPr lang="zh-CN" sz="135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5974080" y="219456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278880" y="2164080"/>
              <a:ext cx="60960" cy="30480"/>
            </a:xfrm>
            <a:custGeom>
              <a:avLst/>
              <a:gdLst/>
              <a:ahLst/>
              <a:cxnLst/>
              <a:rect l="l" t="t" r="r" b="b"/>
              <a:pathLst>
                <a:path w="60960" h="30480">
                  <a:moveTo>
                    <a:pt x="0" y="0"/>
                  </a:moveTo>
                  <a:lnTo>
                    <a:pt x="60960" y="3048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278880" y="2194560"/>
              <a:ext cx="60960" cy="30480"/>
            </a:xfrm>
            <a:custGeom>
              <a:avLst/>
              <a:gdLst/>
              <a:ahLst/>
              <a:cxnLst/>
              <a:rect l="l" t="t" r="r" b="b"/>
              <a:pathLst>
                <a:path w="60960" h="30480">
                  <a:moveTo>
                    <a:pt x="60960" y="0"/>
                  </a:moveTo>
                  <a:lnTo>
                    <a:pt x="0" y="3048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778240" y="2194560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022080" y="2164080"/>
              <a:ext cx="60960" cy="30480"/>
            </a:xfrm>
            <a:custGeom>
              <a:avLst/>
              <a:gdLst/>
              <a:ahLst/>
              <a:cxnLst/>
              <a:rect l="l" t="t" r="r" b="b"/>
              <a:pathLst>
                <a:path w="60960" h="30480">
                  <a:moveTo>
                    <a:pt x="0" y="0"/>
                  </a:moveTo>
                  <a:lnTo>
                    <a:pt x="60960" y="3048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022080" y="2194560"/>
              <a:ext cx="60960" cy="30480"/>
            </a:xfrm>
            <a:custGeom>
              <a:avLst/>
              <a:gdLst/>
              <a:ahLst/>
              <a:cxnLst/>
              <a:rect l="l" t="t" r="r" b="b"/>
              <a:pathLst>
                <a:path w="60960" h="30480">
                  <a:moveTo>
                    <a:pt x="60960" y="0"/>
                  </a:moveTo>
                  <a:lnTo>
                    <a:pt x="0" y="3048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406140" y="2947035"/>
              <a:ext cx="92323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沿关系定位可能受影响的配置，再核对规则与版本，区分确认、候选与 UNKNOWN；继续整理依   </a:t>
              </a:r>
              <a:endParaRPr lang="zh-CN" sz="150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06140" y="31908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据、职责决定和验证准备。   </a:t>
              </a:r>
              <a:endParaRPr lang="zh-CN" sz="150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404997" y="3779520"/>
            <a:ext cx="8299323" cy="516922"/>
            <a:chOff x="3404997" y="3779520"/>
            <a:chExt cx="8299323" cy="516922"/>
          </a:xfrm>
        </p:grpSpPr>
        <p:sp>
          <p:nvSpPr>
            <p:cNvPr id="35" name="Line 35"/>
            <p:cNvSpPr/>
            <p:nvPr/>
          </p:nvSpPr>
          <p:spPr>
            <a:xfrm>
              <a:off x="3413760" y="3779520"/>
              <a:ext cx="8290560" cy="9525"/>
            </a:xfrm>
            <a:custGeom>
              <a:avLst/>
              <a:gdLst/>
              <a:ahLst/>
              <a:cxnLst/>
              <a:rect l="l" t="t" r="r" b="b"/>
              <a:pathLst>
                <a:path w="8290560" h="9525">
                  <a:moveTo>
                    <a:pt x="0" y="0"/>
                  </a:moveTo>
                  <a:lnTo>
                    <a:pt x="829056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404997" y="3959066"/>
              <a:ext cx="643888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有关联不等于影响成立；还要核对规则、版本与业务决定。   </a:t>
              </a:r>
              <a:endParaRPr lang="zh-CN" sz="172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413760" y="4754880"/>
            <a:ext cx="8928677" cy="1036320"/>
            <a:chOff x="3413760" y="4754880"/>
            <a:chExt cx="8928677" cy="1036320"/>
          </a:xfrm>
        </p:grpSpPr>
        <p:sp>
          <p:nvSpPr>
            <p:cNvPr id="38" name="Rectangle 38"/>
            <p:cNvSpPr/>
            <p:nvPr/>
          </p:nvSpPr>
          <p:spPr>
            <a:xfrm>
              <a:off x="3413760" y="4754880"/>
              <a:ext cx="8290560" cy="1036320"/>
            </a:xfrm>
            <a:prstGeom prst="rect">
              <a:avLst/>
            </a:prstGeom>
            <a:solidFill>
              <a:srgbClr val="EAF3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589401" y="4844891"/>
              <a:ext cx="30615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独立离线样本 · 结构复杂度依据   </a:t>
              </a:r>
              <a:endParaRPr lang="zh-CN" sz="142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90354" y="5108972"/>
              <a:ext cx="8752083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5 个流程集 / 150 个模型 / 704 个 XML 版本；149 个标记当前 / 运行版本中，142 个含条件，共 1,891 条条   </a:t>
              </a:r>
              <a:endParaRPr lang="zh-CN" sz="12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90354" y="5291852"/>
              <a:ext cx="2516505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件；映射样本 1,119 条记录。   </a:t>
              </a:r>
              <a:endParaRPr lang="zh-CN" sz="12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90544" y="5539740"/>
              <a:ext cx="3348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独立结构样本，与上述离任事件分别统计。   </a:t>
              </a:r>
              <a:endParaRPr lang="zh-CN" sz="120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80974" y="1747266"/>
            <a:ext cx="1550502" cy="258166"/>
            <a:chOff x="480974" y="1747266"/>
            <a:chExt cx="1550502" cy="258166"/>
          </a:xfrm>
        </p:grpSpPr>
        <p:sp>
          <p:nvSpPr>
            <p:cNvPr id="44" name="TextBox 44"/>
            <p:cNvSpPr txBox="1"/>
            <p:nvPr/>
          </p:nvSpPr>
          <p:spPr>
            <a:xfrm>
              <a:off x="480974" y="1747266"/>
              <a:ext cx="1550502" cy="2581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20" dirty="0">
                  <a:solidFill>
                    <a:srgbClr val="65758A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来源：业务访谈   </a:t>
              </a:r>
              <a:endParaRPr lang="zh-CN" sz="1320" dirty="0">
                <a:solidFill>
                  <a:srgbClr val="65758A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150727" y="5929789"/>
            <a:ext cx="669544" cy="190690"/>
            <a:chOff x="11150727" y="5929789"/>
            <a:chExt cx="669544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11150727" y="592978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03 / 15   </a:t>
              </a:r>
              <a:endParaRPr lang="en-US" sz="980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/>
          <p:nvPr/>
        </p:nvSpPr>
        <p:spPr>
          <a:xfrm>
            <a:off x="396240" y="322516"/>
            <a:ext cx="4239292" cy="521970"/>
          </a:xfrm>
          <a:prstGeom prst="rect">
            <a:avLst/>
          </a:prstGeom>
          <a:noFill/>
          <a:ln>
            <a:noFill/>
          </a:ln>
        </p:spPr>
        <p:txBody>
          <a:bodyPr wrap="none" lIns="91440" tIns="45810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项目方案</a:t>
            </a:r>
            <a:endParaRPr lang="zh-CN" sz="280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6301" y="418433"/>
            <a:ext cx="250794" cy="330803"/>
            <a:chOff x="126301" y="418433"/>
            <a:chExt cx="250794" cy="330803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6301" y="418433"/>
              <a:ext cx="250793" cy="330803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475488" y="899160"/>
            <a:ext cx="6673215" cy="368935"/>
            <a:chOff x="475488" y="899160"/>
            <a:chExt cx="6673215" cy="368935"/>
          </a:xfrm>
        </p:grpSpPr>
        <p:sp>
          <p:nvSpPr>
            <p:cNvPr id="7" name="TextBox 7"/>
            <p:cNvSpPr txBox="1"/>
            <p:nvPr/>
          </p:nvSpPr>
          <p:spPr>
            <a:xfrm>
              <a:off x="475488" y="899160"/>
              <a:ext cx="6673215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从运维目标到变更决策包，产品边界清晰、过程可复核   </a:t>
              </a:r>
              <a:endParaRPr lang="zh-CN" sz="24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1790700" y="1638300"/>
            <a:ext cx="2514600" cy="762000"/>
          </a:xfrm>
          <a:prstGeom prst="trapezoid">
            <a:avLst>
              <a:gd name="adj" fmla="val 35000"/>
            </a:avLst>
          </a:prstGeom>
          <a:solidFill>
            <a:srgbClr val="DAE8FF"/>
          </a:solidFill>
          <a:ln w="9525">
            <a:solidFill>
              <a:srgbClr val="FFFFFF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1485900" y="2457450"/>
            <a:ext cx="3124200" cy="571500"/>
          </a:xfrm>
          <a:prstGeom prst="trapezoid">
            <a:avLst>
              <a:gd name="adj" fmla="val 46667"/>
            </a:avLst>
          </a:prstGeom>
          <a:solidFill>
            <a:srgbClr val="1760F6"/>
          </a:solidFill>
          <a:ln w="9525">
            <a:solidFill>
              <a:srgbClr val="FFFFFF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1181100" y="3086100"/>
            <a:ext cx="3733800" cy="571500"/>
          </a:xfrm>
          <a:prstGeom prst="trapezoid">
            <a:avLst>
              <a:gd name="adj" fmla="val 46667"/>
            </a:avLst>
          </a:prstGeom>
          <a:solidFill>
            <a:srgbClr val="DAE8FF"/>
          </a:solidFill>
          <a:ln w="9525">
            <a:solidFill>
              <a:srgbClr val="FFFFFF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876300" y="3714750"/>
            <a:ext cx="4343400" cy="571500"/>
          </a:xfrm>
          <a:prstGeom prst="trapezoid">
            <a:avLst>
              <a:gd name="adj" fmla="val 46667"/>
            </a:avLst>
          </a:prstGeom>
          <a:solidFill>
            <a:srgbClr val="C4D9FC"/>
          </a:solidFill>
          <a:ln w="9525">
            <a:solidFill>
              <a:srgbClr val="FFFFFF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571500" y="4343400"/>
            <a:ext cx="4953000" cy="723900"/>
          </a:xfrm>
          <a:prstGeom prst="trapezoid">
            <a:avLst>
              <a:gd name="adj" fmla="val 36842"/>
            </a:avLst>
          </a:prstGeom>
          <a:solidFill>
            <a:srgbClr val="162E50"/>
          </a:solidFill>
          <a:ln w="9525">
            <a:solidFill>
              <a:srgbClr val="FFFFFF"/>
            </a:solidFill>
          </a:ln>
        </p:spPr>
      </p:sp>
      <p:grpSp>
        <p:nvGrpSpPr>
          <p:cNvPr id="47" name="Group 47"/>
          <p:cNvGrpSpPr/>
          <p:nvPr/>
        </p:nvGrpSpPr>
        <p:grpSpPr>
          <a:xfrm>
            <a:off x="11150727" y="5929789"/>
            <a:ext cx="669544" cy="190690"/>
            <a:chOff x="11150727" y="5929789"/>
            <a:chExt cx="669544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11150727" y="592978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04 / 15   </a:t>
              </a:r>
              <a:endParaRPr lang="en-US" sz="980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360981" y="1904619"/>
            <a:ext cx="1374038" cy="328574"/>
            <a:chOff x="2360981" y="1904619"/>
            <a:chExt cx="1374038" cy="328574"/>
          </a:xfrm>
        </p:grpSpPr>
        <p:sp>
          <p:nvSpPr>
            <p:cNvPr id="14" name="TextBox 14"/>
            <p:cNvSpPr txBox="1"/>
            <p:nvPr/>
          </p:nvSpPr>
          <p:spPr>
            <a:xfrm>
              <a:off x="2360981" y="1904619"/>
              <a:ext cx="1374038" cy="3285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8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人工复核与业务决定</a:t>
              </a:r>
              <a:endParaRPr lang="zh-CN" sz="168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05300" y="1676400"/>
            <a:ext cx="7399020" cy="733425"/>
            <a:chOff x="4305300" y="1676400"/>
            <a:chExt cx="7399020" cy="733425"/>
          </a:xfrm>
        </p:grpSpPr>
        <p:sp>
          <p:nvSpPr>
            <p:cNvPr id="16" name="Line 16"/>
            <p:cNvSpPr/>
            <p:nvPr/>
          </p:nvSpPr>
          <p:spPr>
            <a:xfrm>
              <a:off x="5810250" y="2400300"/>
              <a:ext cx="5894070" cy="9525"/>
            </a:xfrm>
            <a:custGeom>
              <a:avLst/>
              <a:gdLst/>
              <a:ahLst/>
              <a:cxnLst/>
              <a:rect l="l" t="t" r="r" b="b"/>
              <a:pathLst>
                <a:path w="5894070" h="9525">
                  <a:moveTo>
                    <a:pt x="0" y="0"/>
                  </a:moveTo>
                  <a:lnTo>
                    <a:pt x="589407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7880" y="1676400"/>
              <a:ext cx="31592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确认范围 · 复核成果 · 记录决定  </a:t>
              </a:r>
              <a:endParaRPr lang="zh-CN" sz="15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9404" y="1946910"/>
              <a:ext cx="312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业务决定：职责安排 / 业务真值 / 业务正确性  </a:t>
              </a:r>
              <a:endParaRPr lang="zh-CN" sz="120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9404" y="2156460"/>
              <a:ext cx="44627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执行授权：由现有业务与运维流程承接  </a:t>
              </a:r>
              <a:endParaRPr lang="zh-CN" sz="120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4305300" y="2400300"/>
              <a:ext cx="1504950" cy="9525"/>
            </a:xfrm>
            <a:custGeom>
              <a:avLst/>
              <a:gdLst/>
              <a:ahLst/>
              <a:cxnLst/>
              <a:rect l="l" t="t" r="r" b="b"/>
              <a:pathLst>
                <a:path w="1504950" h="9525">
                  <a:moveTo>
                    <a:pt x="0" y="0"/>
                  </a:moveTo>
                  <a:lnTo>
                    <a:pt x="150495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2360981" y="2504694"/>
            <a:ext cx="1374038" cy="521360"/>
            <a:chOff x="2360981" y="2504694"/>
            <a:chExt cx="1374038" cy="521360"/>
          </a:xfrm>
        </p:grpSpPr>
        <p:sp>
          <p:nvSpPr>
            <p:cNvPr id="22" name="TextBox 22"/>
            <p:cNvSpPr txBox="1"/>
            <p:nvPr/>
          </p:nvSpPr>
          <p:spPr>
            <a:xfrm>
              <a:off x="2360981" y="2504694"/>
              <a:ext cx="1374038" cy="3285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80" b="1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专业成果体系</a:t>
              </a:r>
              <a:endParaRPr lang="zh-CN" sz="1680" b="1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76551" y="2756154"/>
              <a:ext cx="942899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80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变更决策包</a:t>
              </a:r>
              <a:endParaRPr lang="zh-CN" sz="1380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610100" y="2628900"/>
            <a:ext cx="7094220" cy="409575"/>
            <a:chOff x="4610100" y="2628900"/>
            <a:chExt cx="7094220" cy="409575"/>
          </a:xfrm>
        </p:grpSpPr>
        <p:sp>
          <p:nvSpPr>
            <p:cNvPr id="25" name="Line 25"/>
            <p:cNvSpPr/>
            <p:nvPr/>
          </p:nvSpPr>
          <p:spPr>
            <a:xfrm>
              <a:off x="5810250" y="3028950"/>
              <a:ext cx="5894070" cy="9525"/>
            </a:xfrm>
            <a:custGeom>
              <a:avLst/>
              <a:gdLst/>
              <a:ahLst/>
              <a:cxnLst/>
              <a:rect l="l" t="t" r="r" b="b"/>
              <a:pathLst>
                <a:path w="5894070" h="9525">
                  <a:moveTo>
                    <a:pt x="0" y="0"/>
                  </a:moveTo>
                  <a:lnTo>
                    <a:pt x="589407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97880" y="2628900"/>
              <a:ext cx="42254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影响结论 · 证据 · 未知项 · 建议 · 验证准备  </a:t>
              </a:r>
              <a:endParaRPr lang="zh-CN" sz="150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4610100" y="3028950"/>
              <a:ext cx="1200150" cy="9525"/>
            </a:xfrm>
            <a:custGeom>
              <a:avLst/>
              <a:gdLst/>
              <a:ahLst/>
              <a:cxnLst/>
              <a:rect l="l" t="t" r="r" b="b"/>
              <a:pathLst>
                <a:path w="1200150" h="9525">
                  <a:moveTo>
                    <a:pt x="0" y="0"/>
                  </a:moveTo>
                  <a:lnTo>
                    <a:pt x="120015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2360981" y="3257169"/>
            <a:ext cx="1374038" cy="328574"/>
            <a:chOff x="2360981" y="3257169"/>
            <a:chExt cx="1374038" cy="328574"/>
          </a:xfrm>
        </p:grpSpPr>
        <p:sp>
          <p:nvSpPr>
            <p:cNvPr id="29" name="TextBox 29"/>
            <p:cNvSpPr txBox="1"/>
            <p:nvPr/>
          </p:nvSpPr>
          <p:spPr>
            <a:xfrm>
              <a:off x="2360981" y="3257169"/>
              <a:ext cx="1374038" cy="3285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8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Agent 调查与分析</a:t>
              </a:r>
              <a:endParaRPr lang="zh-CN" sz="168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914900" y="3143250"/>
            <a:ext cx="6789420" cy="523875"/>
            <a:chOff x="4914900" y="3143250"/>
            <a:chExt cx="6789420" cy="523875"/>
          </a:xfrm>
        </p:grpSpPr>
        <p:sp>
          <p:nvSpPr>
            <p:cNvPr id="31" name="Line 31"/>
            <p:cNvSpPr/>
            <p:nvPr/>
          </p:nvSpPr>
          <p:spPr>
            <a:xfrm>
              <a:off x="5810250" y="3657600"/>
              <a:ext cx="5894070" cy="9525"/>
            </a:xfrm>
            <a:custGeom>
              <a:avLst/>
              <a:gdLst/>
              <a:ahLst/>
              <a:cxnLst/>
              <a:rect l="l" t="t" r="r" b="b"/>
              <a:pathLst>
                <a:path w="5894070" h="9525">
                  <a:moveTo>
                    <a:pt x="0" y="0"/>
                  </a:moveTo>
                  <a:lnTo>
                    <a:pt x="589407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97880" y="3143250"/>
              <a:ext cx="31249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按目标调查 · 根据证据选择下一步  </a:t>
              </a:r>
              <a:endParaRPr lang="zh-CN" sz="150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97880" y="3371850"/>
              <a:ext cx="2690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调用专业能力 · 组织解释与建议  </a:t>
              </a:r>
              <a:endParaRPr lang="zh-CN" sz="150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4914900" y="3657600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2215781" y="3885819"/>
            <a:ext cx="1664438" cy="328574"/>
            <a:chOff x="2215781" y="3885819"/>
            <a:chExt cx="1664438" cy="328574"/>
          </a:xfrm>
        </p:grpSpPr>
        <p:sp>
          <p:nvSpPr>
            <p:cNvPr id="36" name="TextBox 36"/>
            <p:cNvSpPr txBox="1"/>
            <p:nvPr/>
          </p:nvSpPr>
          <p:spPr>
            <a:xfrm>
              <a:off x="2215781" y="3885819"/>
              <a:ext cx="1664438" cy="3285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8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当前事实与专业能力</a:t>
              </a:r>
              <a:endParaRPr lang="zh-CN" sz="168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19700" y="3771900"/>
            <a:ext cx="6484620" cy="523875"/>
            <a:chOff x="5219700" y="3771900"/>
            <a:chExt cx="6484620" cy="523875"/>
          </a:xfrm>
        </p:grpSpPr>
        <p:sp>
          <p:nvSpPr>
            <p:cNvPr id="38" name="Line 38"/>
            <p:cNvSpPr/>
            <p:nvPr/>
          </p:nvSpPr>
          <p:spPr>
            <a:xfrm>
              <a:off x="5810250" y="4286250"/>
              <a:ext cx="5894070" cy="9525"/>
            </a:xfrm>
            <a:custGeom>
              <a:avLst/>
              <a:gdLst/>
              <a:ahLst/>
              <a:cxnLst/>
              <a:rect l="l" t="t" r="r" b="b"/>
              <a:pathLst>
                <a:path w="5894070" h="9525">
                  <a:moveTo>
                    <a:pt x="0" y="0"/>
                  </a:moveTo>
                  <a:lnTo>
                    <a:pt x="589407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97880" y="3771900"/>
              <a:ext cx="3296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业务系统数据 · 流程与配置 · 规则与知识  </a:t>
              </a:r>
              <a:endParaRPr lang="zh-CN" sz="150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97880" y="4000500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关系核对 · 条件分析 · 差异与影响计算  </a:t>
              </a:r>
              <a:endParaRPr lang="zh-CN" sz="150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1" name="Line 41"/>
            <p:cNvSpPr/>
            <p:nvPr/>
          </p:nvSpPr>
          <p:spPr>
            <a:xfrm>
              <a:off x="5219700" y="4286250"/>
              <a:ext cx="590550" cy="9525"/>
            </a:xfrm>
            <a:custGeom>
              <a:avLst/>
              <a:gdLst/>
              <a:ahLst/>
              <a:cxnLst/>
              <a:rect l="l" t="t" r="r" b="b"/>
              <a:pathLst>
                <a:path w="590550" h="9525">
                  <a:moveTo>
                    <a:pt x="0" y="0"/>
                  </a:moveTo>
                  <a:lnTo>
                    <a:pt x="59055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682496" y="4590669"/>
            <a:ext cx="2731008" cy="328574"/>
            <a:chOff x="1682496" y="4590669"/>
            <a:chExt cx="2731008" cy="328574"/>
          </a:xfrm>
        </p:grpSpPr>
        <p:sp>
          <p:nvSpPr>
            <p:cNvPr id="43" name="TextBox 43"/>
            <p:cNvSpPr txBox="1"/>
            <p:nvPr/>
          </p:nvSpPr>
          <p:spPr>
            <a:xfrm>
              <a:off x="1682496" y="4590669"/>
              <a:ext cx="2731008" cy="3285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80" b="1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正式任务、范围与权限</a:t>
              </a:r>
              <a:endParaRPr lang="zh-CN" sz="1680" b="1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524500" y="4470654"/>
            <a:ext cx="6179820" cy="606171"/>
            <a:chOff x="5524500" y="4470654"/>
            <a:chExt cx="6179820" cy="606171"/>
          </a:xfrm>
        </p:grpSpPr>
        <p:sp>
          <p:nvSpPr>
            <p:cNvPr id="45" name="Line 45"/>
            <p:cNvSpPr/>
            <p:nvPr/>
          </p:nvSpPr>
          <p:spPr>
            <a:xfrm>
              <a:off x="5810250" y="5067300"/>
              <a:ext cx="5894070" cy="9525"/>
            </a:xfrm>
            <a:custGeom>
              <a:avLst/>
              <a:gdLst/>
              <a:ahLst/>
              <a:cxnLst/>
              <a:rect l="l" t="t" r="r" b="b"/>
              <a:pathLst>
                <a:path w="5894070" h="9525">
                  <a:moveTo>
                    <a:pt x="0" y="0"/>
                  </a:moveTo>
                  <a:lnTo>
                    <a:pt x="589407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58" name="TextBox 46"/>
            <p:cNvSpPr txBox="1"/>
            <p:nvPr/>
          </p:nvSpPr>
          <p:spPr>
            <a:xfrm>
              <a:off x="5898490" y="4470654"/>
              <a:ext cx="4732721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任务范围与版本 · 只读数据接入 · 受控工具调用  </a:t>
              </a:r>
              <a:endParaRPr lang="zh-CN" sz="13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898490" y="4699254"/>
              <a:ext cx="2847099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来源追溯 · 权限约束 · 全程留痕  </a:t>
              </a:r>
              <a:endParaRPr lang="zh-CN" sz="13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9" name="Line 49"/>
            <p:cNvSpPr/>
            <p:nvPr/>
          </p:nvSpPr>
          <p:spPr>
            <a:xfrm>
              <a:off x="5524500" y="50673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601980" y="5353050"/>
            <a:ext cx="3872103" cy="521970"/>
            <a:chOff x="601980" y="5353050"/>
            <a:chExt cx="3872103" cy="521970"/>
          </a:xfrm>
        </p:grpSpPr>
        <p:sp>
          <p:nvSpPr>
            <p:cNvPr id="51" name="TextBox 51"/>
            <p:cNvSpPr txBox="1"/>
            <p:nvPr/>
          </p:nvSpPr>
          <p:spPr>
            <a:xfrm>
              <a:off x="601980" y="5353050"/>
              <a:ext cx="3872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产品负责调查、分析和成果组织；  </a:t>
              </a:r>
              <a:endParaRPr lang="zh-CN" sz="150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1980" y="5581650"/>
              <a:ext cx="3670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顾问及业务人员完成复核、决定与执行授权。  </a:t>
              </a:r>
              <a:endParaRPr lang="zh-CN" sz="150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652004" y="5271135"/>
            <a:ext cx="3461842" cy="666274"/>
            <a:chOff x="7652004" y="5271135"/>
            <a:chExt cx="3461842" cy="666274"/>
          </a:xfrm>
        </p:grpSpPr>
        <p:sp>
          <p:nvSpPr>
            <p:cNvPr id="54" name="TextBox 54"/>
            <p:cNvSpPr txBox="1"/>
            <p:nvPr/>
          </p:nvSpPr>
          <p:spPr>
            <a:xfrm>
              <a:off x="7652004" y="5271135"/>
              <a:ext cx="1491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5758A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当前实现边界  </a:t>
              </a:r>
              <a:endParaRPr lang="zh-CN" sz="1200" b="1" dirty="0">
                <a:solidFill>
                  <a:srgbClr val="65758A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52385" y="5488781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5758A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高保真演示与局部技术 PoC；  </a:t>
              </a:r>
              <a:endParaRPr lang="zh-CN" sz="1120" dirty="0">
                <a:solidFill>
                  <a:srgbClr val="65758A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52385" y="5717381"/>
              <a:ext cx="34614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5758A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当前不具备生产写入及独立执行能力。  </a:t>
              </a:r>
              <a:endParaRPr lang="zh-CN" sz="1120" dirty="0">
                <a:solidFill>
                  <a:srgbClr val="65758A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96240" y="322516"/>
            <a:ext cx="4239292" cy="593386"/>
            <a:chOff x="396240" y="322516"/>
            <a:chExt cx="4239292" cy="593386"/>
          </a:xfrm>
        </p:grpSpPr>
        <p:sp>
          <p:nvSpPr>
            <p:cNvPr id="2" name="Freeform 2"/>
            <p:cNvSpPr/>
            <p:nvPr/>
          </p:nvSpPr>
          <p:spPr>
            <a:xfrm>
              <a:off x="396240" y="322516"/>
              <a:ext cx="4239292" cy="521970"/>
            </a:xfrm>
            <a:custGeom>
              <a:avLst/>
              <a:gdLst/>
              <a:ahLst/>
              <a:cxnLst/>
              <a:rect l="l" t="t" r="r" b="b"/>
              <a:pathLst>
                <a:path w="4239292" h="521970">
                  <a:moveTo>
                    <a:pt x="0" y="0"/>
                  </a:moveTo>
                  <a:lnTo>
                    <a:pt x="4239292" y="0"/>
                  </a:lnTo>
                  <a:lnTo>
                    <a:pt x="4239292" y="521970"/>
                  </a:lnTo>
                  <a:lnTo>
                    <a:pt x="0" y="52197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3457" y="368327"/>
              <a:ext cx="1536189" cy="547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0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项目方案</a:t>
              </a:r>
              <a:endParaRPr lang="zh-CN" sz="2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6302" y="418433"/>
            <a:ext cx="250793" cy="330803"/>
            <a:chOff x="126302" y="418433"/>
            <a:chExt cx="250793" cy="330803"/>
          </a:xfrm>
        </p:grpSpPr>
        <p:sp>
          <p:nvSpPr>
            <p:cNvPr id="5" name="Polygon 5"/>
            <p:cNvSpPr/>
            <p:nvPr/>
          </p:nvSpPr>
          <p:spPr>
            <a:xfrm>
              <a:off x="126302" y="418433"/>
              <a:ext cx="250793" cy="330803"/>
            </a:xfrm>
            <a:custGeom>
              <a:avLst/>
              <a:gdLst/>
              <a:ahLst/>
              <a:cxnLst/>
              <a:rect l="l" t="t" r="r" b="b"/>
              <a:pathLst>
                <a:path w="250793" h="330803">
                  <a:moveTo>
                    <a:pt x="250302" y="165408"/>
                  </a:moveTo>
                  <a:lnTo>
                    <a:pt x="250793" y="164769"/>
                  </a:lnTo>
                  <a:lnTo>
                    <a:pt x="249811" y="164769"/>
                  </a:lnTo>
                  <a:lnTo>
                    <a:pt x="122970" y="0"/>
                  </a:lnTo>
                  <a:lnTo>
                    <a:pt x="0" y="0"/>
                  </a:lnTo>
                  <a:lnTo>
                    <a:pt x="127332" y="165408"/>
                  </a:lnTo>
                  <a:lnTo>
                    <a:pt x="0" y="330803"/>
                  </a:lnTo>
                  <a:lnTo>
                    <a:pt x="122970" y="330803"/>
                  </a:lnTo>
                  <a:lnTo>
                    <a:pt x="249811" y="166034"/>
                  </a:lnTo>
                  <a:lnTo>
                    <a:pt x="250793" y="166034"/>
                  </a:lnTo>
                  <a:lnTo>
                    <a:pt x="250302" y="165408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1145747" y="5929789"/>
            <a:ext cx="674492" cy="191722"/>
            <a:chOff x="11145747" y="5929789"/>
            <a:chExt cx="674492" cy="191722"/>
          </a:xfrm>
        </p:grpSpPr>
        <p:grpSp>
          <p:nvGrpSpPr>
            <p:cNvPr id="9" name="Group 9"/>
            <p:cNvGrpSpPr/>
            <p:nvPr/>
          </p:nvGrpSpPr>
          <p:grpSpPr>
            <a:xfrm>
              <a:off x="11145747" y="5929789"/>
              <a:ext cx="674492" cy="191722"/>
              <a:chOff x="11145747" y="5929789"/>
              <a:chExt cx="674492" cy="1917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1150727" y="5929789"/>
                <a:ext cx="669512" cy="190691"/>
              </a:xfrm>
              <a:custGeom>
                <a:avLst/>
                <a:gdLst/>
                <a:ahLst/>
                <a:cxnLst/>
                <a:rect l="l" t="t" r="r" b="b"/>
                <a:pathLst>
                  <a:path w="669512" h="190691">
                    <a:moveTo>
                      <a:pt x="0" y="0"/>
                    </a:moveTo>
                    <a:lnTo>
                      <a:pt x="669512" y="0"/>
                    </a:lnTo>
                    <a:lnTo>
                      <a:pt x="669512" y="190691"/>
                    </a:lnTo>
                    <a:lnTo>
                      <a:pt x="0" y="190691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1145747" y="5929794"/>
                <a:ext cx="597037" cy="1917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1760F6"/>
                    </a:solidFill>
                    <a:latin typeface="微软雅黑" panose="020B0703020204020201" charset="-122"/>
                    <a:ea typeface="微软雅黑" panose="020B0703020204020201" charset="-122"/>
                    <a:cs typeface="微软雅黑" panose="020B0703020204020201" charset="-122"/>
                  </a:rPr>
                  <a:t>05 / 15  </a:t>
                </a:r>
                <a:endParaRPr lang="en-US" sz="980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endParaRP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463296" y="899160"/>
            <a:ext cx="5566959" cy="469392"/>
            <a:chOff x="463296" y="899160"/>
            <a:chExt cx="5566959" cy="469392"/>
          </a:xfrm>
        </p:grpSpPr>
        <p:sp>
          <p:nvSpPr>
            <p:cNvPr id="11" name="TextBox 11"/>
            <p:cNvSpPr txBox="1"/>
            <p:nvPr/>
          </p:nvSpPr>
          <p:spPr>
            <a:xfrm>
              <a:off x="463296" y="899160"/>
              <a:ext cx="55669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从业务目标到变更决策包  </a:t>
              </a:r>
              <a:endParaRPr lang="zh-CN" sz="24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59434" y="1507490"/>
            <a:ext cx="9473133" cy="4335780"/>
            <a:chOff x="1359434" y="1584960"/>
            <a:chExt cx="9473133" cy="433578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59434" y="1584960"/>
              <a:ext cx="9473133" cy="4335780"/>
            </a:xfrm>
            <a:prstGeom prst="rect">
              <a:avLst/>
            </a:prstGeom>
          </p:spPr>
        </p:pic>
      </p:grp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/>
          <p:nvPr/>
        </p:nvSpPr>
        <p:spPr>
          <a:xfrm>
            <a:off x="396240" y="322516"/>
            <a:ext cx="4239292" cy="521970"/>
          </a:xfrm>
          <a:prstGeom prst="rect">
            <a:avLst/>
          </a:prstGeom>
          <a:noFill/>
          <a:ln>
            <a:noFill/>
          </a:ln>
        </p:spPr>
        <p:txBody>
          <a:bodyPr wrap="none" lIns="91440" tIns="45810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项目方案</a:t>
            </a:r>
            <a:endParaRPr lang="zh-CN" sz="280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6301" y="418433"/>
            <a:ext cx="250794" cy="330803"/>
            <a:chOff x="126301" y="418433"/>
            <a:chExt cx="250794" cy="330803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6301" y="418433"/>
              <a:ext cx="250793" cy="330803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475488" y="899160"/>
            <a:ext cx="9035986" cy="817245"/>
            <a:chOff x="475488" y="899160"/>
            <a:chExt cx="9035986" cy="817245"/>
          </a:xfrm>
        </p:grpSpPr>
        <p:sp>
          <p:nvSpPr>
            <p:cNvPr id="7" name="TextBox 7"/>
            <p:cNvSpPr txBox="1"/>
            <p:nvPr/>
          </p:nvSpPr>
          <p:spPr>
            <a:xfrm>
              <a:off x="475488" y="899160"/>
              <a:ext cx="5454015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五类专业工作，按目标组合为不同成果   </a:t>
              </a:r>
              <a:endParaRPr lang="zh-CN" sz="24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0060" y="1423035"/>
              <a:ext cx="90314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围绕流程、配置、规则与映射，按业务目标组合专业工作；不同场景共用任务、成果和可信底座。   </a:t>
              </a:r>
              <a:endParaRPr lang="zh-CN" sz="150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79755" y="1828800"/>
            <a:ext cx="7323125" cy="3850005"/>
            <a:chOff x="479755" y="1828800"/>
            <a:chExt cx="7323125" cy="3850005"/>
          </a:xfrm>
        </p:grpSpPr>
        <p:sp>
          <p:nvSpPr>
            <p:cNvPr id="10" name="Line 10"/>
            <p:cNvSpPr/>
            <p:nvPr/>
          </p:nvSpPr>
          <p:spPr>
            <a:xfrm>
              <a:off x="487680" y="1828800"/>
              <a:ext cx="7315200" cy="9525"/>
            </a:xfrm>
            <a:custGeom>
              <a:avLst/>
              <a:gdLst/>
              <a:ahLst/>
              <a:cxnLst/>
              <a:rect l="l" t="t" r="r" b="b"/>
              <a:pathLst>
                <a:path w="7315200" h="9525">
                  <a:moveTo>
                    <a:pt x="0" y="0"/>
                  </a:moveTo>
                  <a:lnTo>
                    <a:pt x="731520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80060" y="1971675"/>
              <a:ext cx="1172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3FA9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专业工作   </a:t>
              </a:r>
              <a:endParaRPr lang="zh-CN" sz="1500" b="1" dirty="0">
                <a:solidFill>
                  <a:srgbClr val="003FA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65020" y="1971675"/>
              <a:ext cx="1172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3FA9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实际承接   </a:t>
              </a:r>
              <a:endParaRPr lang="zh-CN" sz="1500" b="1" dirty="0">
                <a:solidFill>
                  <a:srgbClr val="003FA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78780" y="1971675"/>
              <a:ext cx="1778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3FA9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面向用户的成果   </a:t>
              </a:r>
              <a:endParaRPr lang="zh-CN" sz="1500" b="1" dirty="0">
                <a:solidFill>
                  <a:srgbClr val="003FA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487680" y="2316480"/>
              <a:ext cx="7315200" cy="9525"/>
            </a:xfrm>
            <a:custGeom>
              <a:avLst/>
              <a:gdLst/>
              <a:ahLst/>
              <a:cxnLst/>
              <a:rect l="l" t="t" r="r" b="b"/>
              <a:pathLst>
                <a:path w="7315200" h="9525">
                  <a:moveTo>
                    <a:pt x="0" y="0"/>
                  </a:moveTo>
                  <a:lnTo>
                    <a:pt x="731520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9755" y="2422398"/>
              <a:ext cx="1219716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理解现状   </a:t>
              </a:r>
              <a:endParaRPr lang="zh-CN" sz="156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65325" y="2404872"/>
              <a:ext cx="2660721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还原流程路径、配置关系、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65325" y="2648712"/>
              <a:ext cx="2079163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规则取值与映射依据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79085" y="2404872"/>
              <a:ext cx="2079163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现状说明、关系图、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79085" y="2648712"/>
              <a:ext cx="916046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规则链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487680" y="2987040"/>
              <a:ext cx="7315200" cy="9525"/>
            </a:xfrm>
            <a:custGeom>
              <a:avLst/>
              <a:gdLst/>
              <a:ahLst/>
              <a:cxnLst/>
              <a:rect l="l" t="t" r="r" b="b"/>
              <a:pathLst>
                <a:path w="7315200" h="9525">
                  <a:moveTo>
                    <a:pt x="0" y="0"/>
                  </a:moveTo>
                  <a:lnTo>
                    <a:pt x="731520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9755" y="3092958"/>
              <a:ext cx="1219716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分析变化   </a:t>
              </a:r>
              <a:endParaRPr lang="zh-CN" sz="156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65325" y="3075432"/>
              <a:ext cx="2302093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对比对象 / 版本差异，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65325" y="3319272"/>
              <a:ext cx="2079163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追查依赖和潜在影响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79085" y="3075432"/>
              <a:ext cx="2273016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差异清单、分层影响、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79085" y="3319272"/>
              <a:ext cx="1109899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待核实项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487680" y="3657600"/>
              <a:ext cx="7315200" cy="9525"/>
            </a:xfrm>
            <a:custGeom>
              <a:avLst/>
              <a:gdLst/>
              <a:ahLst/>
              <a:cxnLst/>
              <a:rect l="l" t="t" r="r" b="b"/>
              <a:pathLst>
                <a:path w="7315200" h="9525">
                  <a:moveTo>
                    <a:pt x="0" y="0"/>
                  </a:moveTo>
                  <a:lnTo>
                    <a:pt x="731520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79755" y="3763518"/>
              <a:ext cx="1219716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专业复核   </a:t>
              </a:r>
              <a:endParaRPr lang="zh-CN" sz="156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65325" y="3745992"/>
              <a:ext cx="2660721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核对条件、适用关系、规则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65325" y="3989832"/>
              <a:ext cx="2466868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与映射，识别冲突和缺口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79085" y="3745992"/>
              <a:ext cx="1497604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风险与见证、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79085" y="3989832"/>
              <a:ext cx="1497604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覆盖和未知项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2" name="Line 32"/>
            <p:cNvSpPr/>
            <p:nvPr/>
          </p:nvSpPr>
          <p:spPr>
            <a:xfrm>
              <a:off x="487680" y="4328160"/>
              <a:ext cx="7315200" cy="9525"/>
            </a:xfrm>
            <a:custGeom>
              <a:avLst/>
              <a:gdLst/>
              <a:ahLst/>
              <a:cxnLst/>
              <a:rect l="l" t="t" r="r" b="b"/>
              <a:pathLst>
                <a:path w="7315200" h="9525">
                  <a:moveTo>
                    <a:pt x="0" y="0"/>
                  </a:moveTo>
                  <a:lnTo>
                    <a:pt x="731520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9755" y="4434078"/>
              <a:ext cx="1219716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辅助设计   </a:t>
              </a:r>
              <a:endParaRPr lang="zh-CN" sz="156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65325" y="4416552"/>
              <a:ext cx="2660721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对照业务要求与现状，参考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65325" y="4660392"/>
              <a:ext cx="2273016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模板，提出可审阅调整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79085" y="4416552"/>
              <a:ext cx="1914388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流程 / 配置草案、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79085" y="4660392"/>
              <a:ext cx="2079163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拟议差异、调整理由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487680" y="4998720"/>
              <a:ext cx="7315200" cy="9525"/>
            </a:xfrm>
            <a:custGeom>
              <a:avLst/>
              <a:gdLst/>
              <a:ahLst/>
              <a:cxnLst/>
              <a:rect l="l" t="t" r="r" b="b"/>
              <a:pathLst>
                <a:path w="7315200" h="9525">
                  <a:moveTo>
                    <a:pt x="0" y="0"/>
                  </a:moveTo>
                  <a:lnTo>
                    <a:pt x="731520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9755" y="5104638"/>
              <a:ext cx="1009709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验证与   </a:t>
              </a:r>
              <a:endParaRPr lang="zh-CN" sz="156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9755" y="5348478"/>
              <a:ext cx="1219716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持续工作   </a:t>
              </a:r>
              <a:endParaRPr lang="zh-CN" sz="156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065325" y="5087112"/>
              <a:ext cx="2660721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整理验证准备，衔接复核、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065325" y="5330952"/>
              <a:ext cx="2660721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业务决定、交接与必要修订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79085" y="5087112"/>
              <a:ext cx="2273016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验证矩阵、决定记录、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79085" y="5330952"/>
              <a:ext cx="1109899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修订关联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5" name="Line 45"/>
            <p:cNvSpPr/>
            <p:nvPr/>
          </p:nvSpPr>
          <p:spPr>
            <a:xfrm>
              <a:off x="487680" y="5669280"/>
              <a:ext cx="7315200" cy="9525"/>
            </a:xfrm>
            <a:custGeom>
              <a:avLst/>
              <a:gdLst/>
              <a:ahLst/>
              <a:cxnLst/>
              <a:rect l="l" t="t" r="r" b="b"/>
              <a:pathLst>
                <a:path w="7315200" h="9525">
                  <a:moveTo>
                    <a:pt x="0" y="0"/>
                  </a:moveTo>
                  <a:lnTo>
                    <a:pt x="731520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8046720" y="1828800"/>
            <a:ext cx="3091099" cy="4067556"/>
            <a:chOff x="8046720" y="1828800"/>
            <a:chExt cx="3091099" cy="4067556"/>
          </a:xfrm>
        </p:grpSpPr>
        <p:sp>
          <p:nvSpPr>
            <p:cNvPr id="47" name="Line 47"/>
            <p:cNvSpPr/>
            <p:nvPr/>
          </p:nvSpPr>
          <p:spPr>
            <a:xfrm>
              <a:off x="8046720" y="182880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282330" y="1958721"/>
              <a:ext cx="2357050" cy="316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20" b="1" dirty="0">
                  <a:solidFill>
                    <a:srgbClr val="003FA9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从典型目标组合能力   </a:t>
              </a:r>
              <a:endParaRPr lang="zh-CN" sz="1620" b="1" dirty="0">
                <a:solidFill>
                  <a:srgbClr val="003FA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83550" y="2350389"/>
              <a:ext cx="2417957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组织与职责 / 流程与制度   </a:t>
              </a:r>
              <a:endParaRPr lang="zh-CN" sz="138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83245" y="2648712"/>
              <a:ext cx="2079163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角色调整影响哪里？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83245" y="2892552"/>
              <a:ext cx="2466868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新制度要求流程怎样改？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84769" y="3199257"/>
              <a:ext cx="2505418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40" dirty="0">
                  <a:solidFill>
                    <a:srgbClr val="65758A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现状 + 变化 / 复核 / 设计 / 验证   </a:t>
              </a:r>
              <a:endParaRPr lang="zh-CN" sz="1140" dirty="0">
                <a:solidFill>
                  <a:srgbClr val="65758A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83550" y="3447669"/>
              <a:ext cx="2603733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配置与主数据 / 规则与映射   </a:t>
              </a:r>
              <a:endParaRPr lang="zh-CN" sz="138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83245" y="3745992"/>
              <a:ext cx="2660721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适用关系是否正确？科目或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83245" y="3989832"/>
              <a:ext cx="2660721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预算映射为何缺失、冲突？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84769" y="4296537"/>
              <a:ext cx="1538577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40" dirty="0">
                  <a:solidFill>
                    <a:srgbClr val="65758A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现状 + 复核 / 变化   </a:t>
              </a:r>
              <a:endParaRPr lang="zh-CN" sz="1140" dirty="0">
                <a:solidFill>
                  <a:srgbClr val="65758A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83550" y="4544949"/>
              <a:ext cx="2789508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接口与字段 / 流程与系统版本   </a:t>
              </a:r>
              <a:endParaRPr lang="zh-CN" sz="138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83245" y="4843272"/>
              <a:ext cx="2466868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字段或版本变化后，哪些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83245" y="5087112"/>
              <a:ext cx="2854574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条件、配置与映射需再核对？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84769" y="5393817"/>
              <a:ext cx="2021997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40" dirty="0">
                  <a:solidFill>
                    <a:srgbClr val="65758A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现状 + 变化 / 复核 / 验证   </a:t>
              </a:r>
              <a:endParaRPr lang="zh-CN" sz="1140" dirty="0">
                <a:solidFill>
                  <a:srgbClr val="65758A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84464" y="5661660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5758A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相关跨域内容需专业适配   </a:t>
              </a:r>
              <a:endParaRPr lang="zh-CN" sz="1200" dirty="0">
                <a:solidFill>
                  <a:srgbClr val="65758A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1150727" y="5929789"/>
            <a:ext cx="669544" cy="190690"/>
            <a:chOff x="11150727" y="5929789"/>
            <a:chExt cx="669544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11150727" y="592978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06 / 15   </a:t>
              </a:r>
              <a:endParaRPr lang="en-US" sz="980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/>
          <p:nvPr/>
        </p:nvSpPr>
        <p:spPr>
          <a:xfrm>
            <a:off x="396240" y="322516"/>
            <a:ext cx="4239292" cy="521970"/>
          </a:xfrm>
          <a:prstGeom prst="rect">
            <a:avLst/>
          </a:prstGeom>
          <a:noFill/>
          <a:ln>
            <a:noFill/>
          </a:ln>
        </p:spPr>
        <p:txBody>
          <a:bodyPr wrap="none" lIns="91440" tIns="45810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项目方案</a:t>
            </a:r>
            <a:endParaRPr lang="zh-CN" sz="280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6301" y="418433"/>
            <a:ext cx="250794" cy="330803"/>
            <a:chOff x="126301" y="418433"/>
            <a:chExt cx="250794" cy="330803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6301" y="418433"/>
              <a:ext cx="250793" cy="330803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475488" y="899160"/>
            <a:ext cx="10651426" cy="817245"/>
            <a:chOff x="475488" y="899160"/>
            <a:chExt cx="10651426" cy="817245"/>
          </a:xfrm>
        </p:grpSpPr>
        <p:sp>
          <p:nvSpPr>
            <p:cNvPr id="7" name="TextBox 7"/>
            <p:cNvSpPr txBox="1"/>
            <p:nvPr/>
          </p:nvSpPr>
          <p:spPr>
            <a:xfrm>
              <a:off x="475488" y="899160"/>
              <a:ext cx="70458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人员离任场景的变更决策包   </a:t>
              </a:r>
              <a:endParaRPr lang="zh-CN" sz="24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0060" y="1423035"/>
              <a:ext cx="10646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围绕一次人员离任事件，集中呈现范围、影响、依据、待决定事项和验证准备。   </a:t>
              </a:r>
              <a:endParaRPr lang="zh-CN" sz="150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87680" y="1828800"/>
            <a:ext cx="2438400" cy="3352800"/>
            <a:chOff x="487680" y="1828800"/>
            <a:chExt cx="2438400" cy="3352800"/>
          </a:xfrm>
        </p:grpSpPr>
        <p:sp>
          <p:nvSpPr>
            <p:cNvPr id="10" name="Rectangle 10"/>
            <p:cNvSpPr/>
            <p:nvPr/>
          </p:nvSpPr>
          <p:spPr>
            <a:xfrm>
              <a:off x="487680" y="1828800"/>
              <a:ext cx="2438400" cy="33528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BDCEE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47386"/>
              <a:ext cx="15764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对象与范围   </a:t>
              </a:r>
              <a:endParaRPr lang="zh-CN" sz="172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2940" y="2337435"/>
              <a:ext cx="2182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本次调查适用于哪里   </a:t>
              </a:r>
              <a:endParaRPr lang="zh-CN" sz="15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2559" y="2756059"/>
              <a:ext cx="164315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目标：人员离任影响排查   </a:t>
              </a:r>
              <a:endPara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2559" y="3182779"/>
              <a:ext cx="185585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对象：演示人员甲   </a:t>
              </a:r>
              <a:endPara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2559" y="3609499"/>
              <a:ext cx="188775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范围：选定流程集   </a:t>
              </a:r>
              <a:endPara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2559" y="4036219"/>
              <a:ext cx="185585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版本：当前版本   </a:t>
              </a:r>
              <a:endPara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926080" y="1828800"/>
            <a:ext cx="4876800" cy="3352800"/>
            <a:chOff x="2926080" y="1828800"/>
            <a:chExt cx="4876800" cy="3352800"/>
          </a:xfrm>
        </p:grpSpPr>
        <p:sp>
          <p:nvSpPr>
            <p:cNvPr id="18" name="Rectangle 18"/>
            <p:cNvSpPr/>
            <p:nvPr/>
          </p:nvSpPr>
          <p:spPr>
            <a:xfrm>
              <a:off x="2926080" y="1828800"/>
              <a:ext cx="4876800" cy="3352800"/>
            </a:xfrm>
            <a:prstGeom prst="rect">
              <a:avLst/>
            </a:prstGeom>
            <a:solidFill>
              <a:srgbClr val="003FA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98673" y="1915001"/>
              <a:ext cx="348295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调查结果   </a:t>
              </a:r>
              <a:endParaRPr lang="zh-CN" sz="2020" b="1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00197" y="2435066"/>
              <a:ext cx="205513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确认影响：1 项   </a:t>
              </a:r>
              <a:endParaRPr lang="zh-CN" sz="1720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00197" y="2800826"/>
              <a:ext cx="205513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IMP-01 · 直接人员引用   </a:t>
              </a:r>
              <a:endParaRPr lang="zh-CN" sz="1720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00197" y="3166586"/>
              <a:ext cx="205513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确认关联：1 项 / 候选：1 项   </a:t>
              </a:r>
              <a:endParaRPr lang="zh-CN" sz="1720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3108960" y="3596640"/>
              <a:ext cx="4511040" cy="9525"/>
            </a:xfrm>
            <a:custGeom>
              <a:avLst/>
              <a:gdLst/>
              <a:ahLst/>
              <a:cxnLst/>
              <a:rect l="l" t="t" r="r" b="b"/>
              <a:pathLst>
                <a:path w="4511040" h="9525">
                  <a:moveTo>
                    <a:pt x="0" y="0"/>
                  </a:moveTo>
                  <a:lnTo>
                    <a:pt x="4511040" y="0"/>
                  </a:lnTo>
                </a:path>
              </a:pathLst>
            </a:custGeom>
            <a:noFill/>
            <a:ln w="7620">
              <a:solidFill>
                <a:srgbClr val="749AD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099816" y="3768090"/>
              <a:ext cx="26189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UNKNOWN：1 项   </a:t>
              </a:r>
              <a:endParaRPr lang="zh-CN" sz="1800" b="1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01340" y="4105275"/>
              <a:ext cx="2367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来源不足，暂不能判断   </a:t>
              </a:r>
              <a:endParaRPr lang="zh-CN" sz="1500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01721" y="4722971"/>
              <a:ext cx="3831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分类口径保留在成果中。   </a:t>
              </a:r>
              <a:endParaRPr lang="zh-CN" sz="1420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802880" y="1828800"/>
            <a:ext cx="3901440" cy="3352800"/>
            <a:chOff x="7802880" y="1828800"/>
            <a:chExt cx="3901440" cy="3352800"/>
          </a:xfrm>
        </p:grpSpPr>
        <p:sp>
          <p:nvSpPr>
            <p:cNvPr id="28" name="Rectangle 28"/>
            <p:cNvSpPr/>
            <p:nvPr/>
          </p:nvSpPr>
          <p:spPr>
            <a:xfrm>
              <a:off x="7802880" y="1828800"/>
              <a:ext cx="3901440" cy="33528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BDCEE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976997" y="1947386"/>
              <a:ext cx="134486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结果与后续工作   </a:t>
              </a:r>
              <a:endParaRPr lang="zh-CN" sz="172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77759" y="2451259"/>
              <a:ext cx="149213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IMP-01 → 配置证据   </a:t>
              </a:r>
              <a:endParaRPr lang="zh-CN" sz="158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78521" y="2772251"/>
              <a:ext cx="28149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直接引用、流程位置与当前版本   </a:t>
              </a:r>
              <a:endParaRPr lang="zh-CN" sz="142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77759" y="3304699"/>
              <a:ext cx="30251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候选项 → 核实重点   </a:t>
              </a:r>
              <a:endParaRPr lang="zh-CN" sz="158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78521" y="3625691"/>
              <a:ext cx="20503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适用范围与职责承接关系   </a:t>
              </a:r>
              <a:endParaRPr lang="zh-CN" sz="142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77759" y="4158139"/>
              <a:ext cx="2555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UNKNOWN → 待补证项   </a:t>
              </a:r>
              <a:endParaRPr lang="zh-CN" sz="158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78521" y="4479131"/>
              <a:ext cx="20503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补充来源后再判断   </a:t>
              </a:r>
              <a:endParaRPr lang="zh-CN" sz="142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79283" y="4861084"/>
              <a:ext cx="25373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验证准备尚未执行。   </a:t>
              </a:r>
              <a:endParaRPr lang="zh-CN" sz="128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87680" y="5181600"/>
            <a:ext cx="11216640" cy="609600"/>
            <a:chOff x="487680" y="5181600"/>
            <a:chExt cx="11216640" cy="609600"/>
          </a:xfrm>
        </p:grpSpPr>
        <p:sp>
          <p:nvSpPr>
            <p:cNvPr id="38" name="Rectangle 38"/>
            <p:cNvSpPr/>
            <p:nvPr/>
          </p:nvSpPr>
          <p:spPr>
            <a:xfrm>
              <a:off x="487680" y="5181600"/>
              <a:ext cx="11216640" cy="609600"/>
            </a:xfrm>
            <a:prstGeom prst="rect">
              <a:avLst/>
            </a:prstGeom>
            <a:solidFill>
              <a:srgbClr val="EAF3FF"/>
            </a:solidFill>
            <a:ln w="7620">
              <a:solidFill>
                <a:srgbClr val="BDCEE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2559" y="5316379"/>
              <a:ext cx="2298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待业务决定   </a:t>
              </a:r>
              <a:endParaRPr lang="zh-CN" sz="158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02102" y="5279708"/>
              <a:ext cx="6856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明确职责承接方案；决定回到原成果，保留依据并形成正式修订。   </a:t>
              </a:r>
              <a:endParaRPr lang="zh-CN" sz="135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150727" y="5929789"/>
            <a:ext cx="669544" cy="190690"/>
            <a:chOff x="11150727" y="5929789"/>
            <a:chExt cx="669544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11150727" y="592978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07 / 15   </a:t>
              </a:r>
              <a:endParaRPr lang="en-US" sz="980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/>
          <p:nvPr/>
        </p:nvSpPr>
        <p:spPr>
          <a:xfrm>
            <a:off x="396240" y="322516"/>
            <a:ext cx="4239292" cy="521970"/>
          </a:xfrm>
          <a:prstGeom prst="rect">
            <a:avLst/>
          </a:prstGeom>
          <a:noFill/>
          <a:ln>
            <a:noFill/>
          </a:ln>
        </p:spPr>
        <p:txBody>
          <a:bodyPr wrap="none" lIns="91440" tIns="45810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项目方案</a:t>
            </a:r>
            <a:endParaRPr lang="zh-CN" sz="280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6301" y="418433"/>
            <a:ext cx="250794" cy="330803"/>
            <a:chOff x="126301" y="418433"/>
            <a:chExt cx="250794" cy="330803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6301" y="418433"/>
              <a:ext cx="250793" cy="330803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475488" y="899160"/>
            <a:ext cx="8739835" cy="817245"/>
            <a:chOff x="475488" y="899160"/>
            <a:chExt cx="8739835" cy="817245"/>
          </a:xfrm>
        </p:grpSpPr>
        <p:sp>
          <p:nvSpPr>
            <p:cNvPr id="7" name="TextBox 7"/>
            <p:cNvSpPr txBox="1"/>
            <p:nvPr/>
          </p:nvSpPr>
          <p:spPr>
            <a:xfrm>
              <a:off x="475488" y="899160"/>
              <a:ext cx="78450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Agent 按证据推进调查，并在完成或转人工条件下停止   </a:t>
              </a:r>
              <a:endParaRPr lang="zh-CN" sz="24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0060" y="1423035"/>
              <a:ext cx="87352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每一步根据当前发现选择能力；结论具备充分依据时完成，来源不足或需要业务判断时转交人工。   </a:t>
              </a:r>
              <a:endParaRPr lang="zh-CN" sz="150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78536" y="2072640"/>
            <a:ext cx="2700909" cy="3596640"/>
            <a:chOff x="478536" y="2072640"/>
            <a:chExt cx="2700909" cy="3596640"/>
          </a:xfrm>
        </p:grpSpPr>
        <p:sp>
          <p:nvSpPr>
            <p:cNvPr id="10" name="Line 10"/>
            <p:cNvSpPr/>
            <p:nvPr/>
          </p:nvSpPr>
          <p:spPr>
            <a:xfrm>
              <a:off x="3169920" y="2072640"/>
              <a:ext cx="9525" cy="3596640"/>
            </a:xfrm>
            <a:custGeom>
              <a:avLst/>
              <a:gdLst/>
              <a:ahLst/>
              <a:cxnLst/>
              <a:rect l="l" t="t" r="r" b="b"/>
              <a:pathLst>
                <a:path w="9525" h="3596640">
                  <a:moveTo>
                    <a:pt x="0" y="0"/>
                  </a:moveTo>
                  <a:lnTo>
                    <a:pt x="0" y="359664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8536" y="2122170"/>
              <a:ext cx="16999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读取事实   </a:t>
              </a:r>
              <a:endParaRPr lang="zh-CN" sz="18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9755" y="2513838"/>
              <a:ext cx="2252426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返回指定范围和版本   </a:t>
              </a:r>
              <a:endParaRPr lang="zh-CN" sz="156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9755" y="2757678"/>
              <a:ext cx="1412397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内的当前状态。   </a:t>
              </a:r>
              <a:endParaRPr lang="zh-CN" sz="156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8536" y="3341370"/>
              <a:ext cx="21845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确定性计算   </a:t>
              </a:r>
              <a:endParaRPr lang="zh-CN" sz="18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9755" y="3733038"/>
              <a:ext cx="2252426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执行关系、条件与差异   </a:t>
              </a:r>
              <a:endParaRPr lang="zh-CN" sz="156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9755" y="3976878"/>
              <a:ext cx="2042419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分析。   </a:t>
              </a:r>
              <a:endParaRPr lang="zh-CN" sz="156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8536" y="4560570"/>
              <a:ext cx="14073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知识核对   </a:t>
              </a:r>
              <a:endParaRPr lang="zh-CN" sz="18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9755" y="4952238"/>
              <a:ext cx="2462433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用业务说明解释语义，   </a:t>
              </a:r>
              <a:endParaRPr lang="zh-CN" sz="156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9755" y="5196078"/>
              <a:ext cx="2462433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并与当前事实核对。   </a:t>
              </a:r>
              <a:endParaRPr lang="zh-CN" sz="156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413760" y="2072640"/>
            <a:ext cx="8290560" cy="3230880"/>
            <a:chOff x="3413760" y="2072640"/>
            <a:chExt cx="8290560" cy="3230880"/>
          </a:xfrm>
        </p:grpSpPr>
        <p:sp>
          <p:nvSpPr>
            <p:cNvPr id="21" name="Rectangle 21"/>
            <p:cNvSpPr/>
            <p:nvPr/>
          </p:nvSpPr>
          <p:spPr>
            <a:xfrm>
              <a:off x="3413760" y="2072640"/>
              <a:ext cx="8290560" cy="487680"/>
            </a:xfrm>
            <a:prstGeom prst="rect">
              <a:avLst/>
            </a:prstGeom>
            <a:solidFill>
              <a:srgbClr val="003FA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87801" y="2189607"/>
              <a:ext cx="4737005" cy="3403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40" b="1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观察证据 → 判断缺口 → 选择下一步 → 检查完成条件   </a:t>
              </a:r>
              <a:endParaRPr lang="zh-CN" sz="1740" b="1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3596640" y="2743200"/>
              <a:ext cx="9525" cy="2560320"/>
            </a:xfrm>
            <a:custGeom>
              <a:avLst/>
              <a:gdLst/>
              <a:ahLst/>
              <a:cxnLst/>
              <a:rect l="l" t="t" r="r" b="b"/>
              <a:pathLst>
                <a:path w="9525" h="2560320">
                  <a:moveTo>
                    <a:pt x="0" y="0"/>
                  </a:moveTo>
                  <a:lnTo>
                    <a:pt x="0" y="256032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3596640" y="2804160"/>
            <a:ext cx="7246831" cy="583921"/>
            <a:chOff x="3596640" y="2804160"/>
            <a:chExt cx="7246831" cy="583921"/>
          </a:xfrm>
        </p:grpSpPr>
        <p:sp>
          <p:nvSpPr>
            <p:cNvPr id="25" name="Line 25"/>
            <p:cNvSpPr/>
            <p:nvPr/>
          </p:nvSpPr>
          <p:spPr>
            <a:xfrm>
              <a:off x="3596640" y="3048000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893210" y="2934081"/>
              <a:ext cx="1702797" cy="316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2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发现对象引用   </a:t>
              </a:r>
              <a:endParaRPr lang="zh-CN" sz="162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5913120" y="30480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169890" y="3048000"/>
              <a:ext cx="48030" cy="23201"/>
            </a:xfrm>
            <a:custGeom>
              <a:avLst/>
              <a:gdLst/>
              <a:ahLst/>
              <a:cxnLst/>
              <a:rect l="l" t="t" r="r" b="b"/>
              <a:pathLst>
                <a:path w="48030" h="23201">
                  <a:moveTo>
                    <a:pt x="48030" y="0"/>
                  </a:moveTo>
                  <a:lnTo>
                    <a:pt x="0" y="23201"/>
                  </a:lnTo>
                </a:path>
              </a:pathLst>
            </a:custGeom>
            <a:noFill/>
            <a:ln w="12192">
              <a:solidFill>
                <a:srgbClr val="1760F6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169890" y="3024799"/>
              <a:ext cx="48030" cy="23201"/>
            </a:xfrm>
            <a:custGeom>
              <a:avLst/>
              <a:gdLst/>
              <a:ahLst/>
              <a:cxnLst/>
              <a:rect l="l" t="t" r="r" b="b"/>
              <a:pathLst>
                <a:path w="48030" h="23201">
                  <a:moveTo>
                    <a:pt x="48030" y="23201"/>
                  </a:moveTo>
                  <a:lnTo>
                    <a:pt x="0" y="0"/>
                  </a:lnTo>
                </a:path>
              </a:pathLst>
            </a:custGeom>
            <a:noFill/>
            <a:ln w="12192">
              <a:solidFill>
                <a:srgbClr val="1760F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92570" y="2812161"/>
              <a:ext cx="1684805" cy="316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2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追查适用关系   </a:t>
              </a:r>
              <a:endParaRPr lang="zh-CN" sz="162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92570" y="3071241"/>
              <a:ext cx="1466720" cy="316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2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与版本范围   </a:t>
              </a:r>
              <a:endParaRPr lang="zh-CN" sz="162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2" name="Line 32"/>
            <p:cNvSpPr/>
            <p:nvPr/>
          </p:nvSpPr>
          <p:spPr>
            <a:xfrm>
              <a:off x="8961120" y="30480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9217890" y="3048000"/>
              <a:ext cx="48030" cy="23201"/>
            </a:xfrm>
            <a:custGeom>
              <a:avLst/>
              <a:gdLst/>
              <a:ahLst/>
              <a:cxnLst/>
              <a:rect l="l" t="t" r="r" b="b"/>
              <a:pathLst>
                <a:path w="48030" h="23201">
                  <a:moveTo>
                    <a:pt x="48030" y="0"/>
                  </a:moveTo>
                  <a:lnTo>
                    <a:pt x="0" y="23201"/>
                  </a:lnTo>
                </a:path>
              </a:pathLst>
            </a:custGeom>
            <a:noFill/>
            <a:ln w="12192">
              <a:solidFill>
                <a:srgbClr val="1760F6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9217890" y="3024799"/>
              <a:ext cx="48030" cy="23201"/>
            </a:xfrm>
            <a:custGeom>
              <a:avLst/>
              <a:gdLst/>
              <a:ahLst/>
              <a:cxnLst/>
              <a:rect l="l" t="t" r="r" b="b"/>
              <a:pathLst>
                <a:path w="48030" h="23201">
                  <a:moveTo>
                    <a:pt x="48030" y="23201"/>
                  </a:moveTo>
                  <a:lnTo>
                    <a:pt x="0" y="0"/>
                  </a:lnTo>
                </a:path>
              </a:pathLst>
            </a:custGeom>
            <a:noFill/>
            <a:ln w="12192">
              <a:solidFill>
                <a:srgbClr val="1760F6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9448800" y="2804160"/>
              <a:ext cx="9525" cy="548640"/>
            </a:xfrm>
            <a:custGeom>
              <a:avLst/>
              <a:gdLst/>
              <a:ahLst/>
              <a:cxnLst/>
              <a:rect l="l" t="t" r="r" b="b"/>
              <a:pathLst>
                <a:path w="9525" h="54864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22860">
              <a:solidFill>
                <a:srgbClr val="1760F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623755" y="2818638"/>
              <a:ext cx="1219716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b="1" dirty="0">
                  <a:solidFill>
                    <a:srgbClr val="003FA9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范围覆盖、   </a:t>
              </a:r>
              <a:endParaRPr lang="zh-CN" sz="1560" b="1" dirty="0">
                <a:solidFill>
                  <a:srgbClr val="003FA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23755" y="3077718"/>
              <a:ext cx="1219716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b="1" dirty="0">
                  <a:solidFill>
                    <a:srgbClr val="003FA9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结论有依据   </a:t>
              </a:r>
              <a:endParaRPr lang="zh-CN" sz="1560" b="1" dirty="0">
                <a:solidFill>
                  <a:srgbClr val="003FA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596640" y="3901440"/>
            <a:ext cx="7456838" cy="583921"/>
            <a:chOff x="3596640" y="3901440"/>
            <a:chExt cx="7456838" cy="583921"/>
          </a:xfrm>
        </p:grpSpPr>
        <p:sp>
          <p:nvSpPr>
            <p:cNvPr id="39" name="Line 39"/>
            <p:cNvSpPr/>
            <p:nvPr/>
          </p:nvSpPr>
          <p:spPr>
            <a:xfrm>
              <a:off x="3596640" y="4145280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893210" y="3909441"/>
              <a:ext cx="1920881" cy="316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2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发现条件风险   </a:t>
              </a:r>
              <a:endParaRPr lang="zh-CN" sz="162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93210" y="4168521"/>
              <a:ext cx="1461268" cy="316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2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/ 规则冲突   </a:t>
              </a:r>
              <a:endParaRPr lang="zh-CN" sz="162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2" name="Line 42"/>
            <p:cNvSpPr/>
            <p:nvPr/>
          </p:nvSpPr>
          <p:spPr>
            <a:xfrm>
              <a:off x="5913120" y="414528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6169890" y="4145280"/>
              <a:ext cx="48030" cy="23201"/>
            </a:xfrm>
            <a:custGeom>
              <a:avLst/>
              <a:gdLst/>
              <a:ahLst/>
              <a:cxnLst/>
              <a:rect l="l" t="t" r="r" b="b"/>
              <a:pathLst>
                <a:path w="48030" h="23201">
                  <a:moveTo>
                    <a:pt x="48030" y="0"/>
                  </a:moveTo>
                  <a:lnTo>
                    <a:pt x="0" y="23201"/>
                  </a:lnTo>
                </a:path>
              </a:pathLst>
            </a:custGeom>
            <a:noFill/>
            <a:ln w="12192">
              <a:solidFill>
                <a:srgbClr val="1760F6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6169890" y="4122079"/>
              <a:ext cx="48030" cy="23201"/>
            </a:xfrm>
            <a:custGeom>
              <a:avLst/>
              <a:gdLst/>
              <a:ahLst/>
              <a:cxnLst/>
              <a:rect l="l" t="t" r="r" b="b"/>
              <a:pathLst>
                <a:path w="48030" h="23201">
                  <a:moveTo>
                    <a:pt x="48030" y="23201"/>
                  </a:moveTo>
                  <a:lnTo>
                    <a:pt x="0" y="0"/>
                  </a:lnTo>
                </a:path>
              </a:pathLst>
            </a:custGeom>
            <a:noFill/>
            <a:ln w="12192">
              <a:solidFill>
                <a:srgbClr val="1760F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92570" y="3909441"/>
              <a:ext cx="1248636" cy="316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2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执行专业解析   </a:t>
              </a:r>
              <a:endParaRPr lang="zh-CN" sz="162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92570" y="4168521"/>
              <a:ext cx="1684805" cy="316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2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与确定性计算   </a:t>
              </a:r>
              <a:endParaRPr lang="zh-CN" sz="162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7" name="Line 47"/>
            <p:cNvSpPr/>
            <p:nvPr/>
          </p:nvSpPr>
          <p:spPr>
            <a:xfrm>
              <a:off x="8961120" y="414528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9217890" y="4145280"/>
              <a:ext cx="48030" cy="23201"/>
            </a:xfrm>
            <a:custGeom>
              <a:avLst/>
              <a:gdLst/>
              <a:ahLst/>
              <a:cxnLst/>
              <a:rect l="l" t="t" r="r" b="b"/>
              <a:pathLst>
                <a:path w="48030" h="23201">
                  <a:moveTo>
                    <a:pt x="48030" y="0"/>
                  </a:moveTo>
                  <a:lnTo>
                    <a:pt x="0" y="23201"/>
                  </a:lnTo>
                </a:path>
              </a:pathLst>
            </a:custGeom>
            <a:noFill/>
            <a:ln w="12192">
              <a:solidFill>
                <a:srgbClr val="1760F6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9217890" y="4122079"/>
              <a:ext cx="48030" cy="23201"/>
            </a:xfrm>
            <a:custGeom>
              <a:avLst/>
              <a:gdLst/>
              <a:ahLst/>
              <a:cxnLst/>
              <a:rect l="l" t="t" r="r" b="b"/>
              <a:pathLst>
                <a:path w="48030" h="23201">
                  <a:moveTo>
                    <a:pt x="48030" y="23201"/>
                  </a:moveTo>
                  <a:lnTo>
                    <a:pt x="0" y="0"/>
                  </a:lnTo>
                </a:path>
              </a:pathLst>
            </a:custGeom>
            <a:noFill/>
            <a:ln w="12192">
              <a:solidFill>
                <a:srgbClr val="1760F6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9448800" y="3901440"/>
              <a:ext cx="9525" cy="548640"/>
            </a:xfrm>
            <a:custGeom>
              <a:avLst/>
              <a:gdLst/>
              <a:ahLst/>
              <a:cxnLst/>
              <a:rect l="l" t="t" r="r" b="b"/>
              <a:pathLst>
                <a:path w="9525" h="54864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22860">
              <a:solidFill>
                <a:srgbClr val="1760F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623755" y="3915918"/>
              <a:ext cx="1219716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b="1" dirty="0">
                  <a:solidFill>
                    <a:srgbClr val="003FA9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风险已定位、   </a:t>
              </a:r>
              <a:endParaRPr lang="zh-CN" sz="1560" b="1" dirty="0">
                <a:solidFill>
                  <a:srgbClr val="003FA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23755" y="4174998"/>
              <a:ext cx="1429723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b="1" dirty="0">
                  <a:solidFill>
                    <a:srgbClr val="003FA9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形成验证准备   </a:t>
              </a:r>
              <a:endParaRPr lang="zh-CN" sz="1560" b="1" dirty="0">
                <a:solidFill>
                  <a:srgbClr val="003FA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596640" y="4998720"/>
            <a:ext cx="8305178" cy="583921"/>
            <a:chOff x="3596640" y="4998720"/>
            <a:chExt cx="8305178" cy="583921"/>
          </a:xfrm>
        </p:grpSpPr>
        <p:sp>
          <p:nvSpPr>
            <p:cNvPr id="54" name="Line 54"/>
            <p:cNvSpPr/>
            <p:nvPr/>
          </p:nvSpPr>
          <p:spPr>
            <a:xfrm>
              <a:off x="3596640" y="5242560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893210" y="5128641"/>
              <a:ext cx="1702797" cy="316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2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发现来源缺口   </a:t>
              </a:r>
              <a:endParaRPr lang="zh-CN" sz="162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56" name="Line 56"/>
            <p:cNvSpPr/>
            <p:nvPr/>
          </p:nvSpPr>
          <p:spPr>
            <a:xfrm>
              <a:off x="5913120" y="524256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6169890" y="5242560"/>
              <a:ext cx="48030" cy="23201"/>
            </a:xfrm>
            <a:custGeom>
              <a:avLst/>
              <a:gdLst/>
              <a:ahLst/>
              <a:cxnLst/>
              <a:rect l="l" t="t" r="r" b="b"/>
              <a:pathLst>
                <a:path w="48030" h="23201">
                  <a:moveTo>
                    <a:pt x="48030" y="0"/>
                  </a:moveTo>
                  <a:lnTo>
                    <a:pt x="0" y="23201"/>
                  </a:lnTo>
                </a:path>
              </a:pathLst>
            </a:custGeom>
            <a:noFill/>
            <a:ln w="12192">
              <a:solidFill>
                <a:srgbClr val="1760F6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6169890" y="5219359"/>
              <a:ext cx="48030" cy="23201"/>
            </a:xfrm>
            <a:custGeom>
              <a:avLst/>
              <a:gdLst/>
              <a:ahLst/>
              <a:cxnLst/>
              <a:rect l="l" t="t" r="r" b="b"/>
              <a:pathLst>
                <a:path w="48030" h="23201">
                  <a:moveTo>
                    <a:pt x="48030" y="23201"/>
                  </a:moveTo>
                  <a:lnTo>
                    <a:pt x="0" y="0"/>
                  </a:lnTo>
                </a:path>
              </a:pathLst>
            </a:custGeom>
            <a:noFill/>
            <a:ln w="12192">
              <a:solidFill>
                <a:srgbClr val="1760F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92570" y="5006721"/>
              <a:ext cx="1684805" cy="316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2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在授权范围内   </a:t>
              </a:r>
              <a:endParaRPr lang="zh-CN" sz="162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392570" y="5265801"/>
              <a:ext cx="1684805" cy="316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2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寻找补充依据   </a:t>
              </a:r>
              <a:endParaRPr lang="zh-CN" sz="162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61" name="Line 61"/>
            <p:cNvSpPr/>
            <p:nvPr/>
          </p:nvSpPr>
          <p:spPr>
            <a:xfrm>
              <a:off x="8961120" y="524256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9217890" y="5242560"/>
              <a:ext cx="48030" cy="23201"/>
            </a:xfrm>
            <a:custGeom>
              <a:avLst/>
              <a:gdLst/>
              <a:ahLst/>
              <a:cxnLst/>
              <a:rect l="l" t="t" r="r" b="b"/>
              <a:pathLst>
                <a:path w="48030" h="23201">
                  <a:moveTo>
                    <a:pt x="48030" y="0"/>
                  </a:moveTo>
                  <a:lnTo>
                    <a:pt x="0" y="23201"/>
                  </a:lnTo>
                </a:path>
              </a:pathLst>
            </a:custGeom>
            <a:noFill/>
            <a:ln w="12192">
              <a:solidFill>
                <a:srgbClr val="1760F6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9217890" y="5219359"/>
              <a:ext cx="48030" cy="23201"/>
            </a:xfrm>
            <a:custGeom>
              <a:avLst/>
              <a:gdLst/>
              <a:ahLst/>
              <a:cxnLst/>
              <a:rect l="l" t="t" r="r" b="b"/>
              <a:pathLst>
                <a:path w="48030" h="23201">
                  <a:moveTo>
                    <a:pt x="48030" y="23201"/>
                  </a:moveTo>
                  <a:lnTo>
                    <a:pt x="0" y="0"/>
                  </a:lnTo>
                </a:path>
              </a:pathLst>
            </a:custGeom>
            <a:noFill/>
            <a:ln w="12192">
              <a:solidFill>
                <a:srgbClr val="1760F6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9448800" y="4998720"/>
              <a:ext cx="9525" cy="548640"/>
            </a:xfrm>
            <a:custGeom>
              <a:avLst/>
              <a:gdLst/>
              <a:ahLst/>
              <a:cxnLst/>
              <a:rect l="l" t="t" r="r" b="b"/>
              <a:pathLst>
                <a:path w="9525" h="548640">
                  <a:moveTo>
                    <a:pt x="0" y="0"/>
                  </a:moveTo>
                  <a:lnTo>
                    <a:pt x="0" y="548640"/>
                  </a:lnTo>
                </a:path>
              </a:pathLst>
            </a:custGeom>
            <a:noFill/>
            <a:ln w="22860">
              <a:solidFill>
                <a:srgbClr val="1760F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623755" y="5013198"/>
              <a:ext cx="2278063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b="1" dirty="0">
                  <a:solidFill>
                    <a:srgbClr val="003FA9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仍不足：UNKNOWN   </a:t>
              </a:r>
              <a:endParaRPr lang="zh-CN" sz="1560" b="1" dirty="0">
                <a:solidFill>
                  <a:srgbClr val="003FA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623755" y="5272278"/>
              <a:ext cx="1407147" cy="305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b="1" dirty="0">
                  <a:solidFill>
                    <a:srgbClr val="003FA9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/ 转人工补证   </a:t>
              </a:r>
              <a:endParaRPr lang="zh-CN" sz="1560" b="1" dirty="0">
                <a:solidFill>
                  <a:srgbClr val="003FA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356494" y="1808226"/>
            <a:ext cx="1372804" cy="258166"/>
            <a:chOff x="10356494" y="1808226"/>
            <a:chExt cx="1372804" cy="258166"/>
          </a:xfrm>
        </p:grpSpPr>
        <p:sp>
          <p:nvSpPr>
            <p:cNvPr id="68" name="TextBox 68"/>
            <p:cNvSpPr txBox="1"/>
            <p:nvPr/>
          </p:nvSpPr>
          <p:spPr>
            <a:xfrm>
              <a:off x="10356494" y="1808226"/>
              <a:ext cx="1372804" cy="2581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20" dirty="0">
                  <a:solidFill>
                    <a:srgbClr val="65758A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调查循环与停止条件   </a:t>
              </a:r>
              <a:endParaRPr lang="zh-CN" sz="1320" dirty="0">
                <a:solidFill>
                  <a:srgbClr val="65758A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1150727" y="5929789"/>
            <a:ext cx="669544" cy="190690"/>
            <a:chOff x="11150727" y="5929789"/>
            <a:chExt cx="669544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11150727" y="592978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08 / 15   </a:t>
              </a:r>
              <a:endParaRPr lang="en-US" sz="980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/>
          <p:nvPr/>
        </p:nvSpPr>
        <p:spPr>
          <a:xfrm>
            <a:off x="396240" y="322516"/>
            <a:ext cx="4239292" cy="521970"/>
          </a:xfrm>
          <a:prstGeom prst="rect">
            <a:avLst/>
          </a:prstGeom>
          <a:noFill/>
          <a:ln>
            <a:noFill/>
          </a:ln>
        </p:spPr>
        <p:txBody>
          <a:bodyPr wrap="none" lIns="91440" tIns="45810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项目方案</a:t>
            </a:r>
            <a:endParaRPr lang="zh-CN" sz="280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6301" y="418433"/>
            <a:ext cx="250794" cy="330803"/>
            <a:chOff x="126301" y="418433"/>
            <a:chExt cx="250794" cy="330803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6301" y="418433"/>
              <a:ext cx="250793" cy="330803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475488" y="899160"/>
            <a:ext cx="7045894" cy="469392"/>
            <a:chOff x="475488" y="899160"/>
            <a:chExt cx="7045894" cy="469392"/>
          </a:xfrm>
        </p:grpSpPr>
        <p:sp>
          <p:nvSpPr>
            <p:cNvPr id="7" name="TextBox 7"/>
            <p:cNvSpPr txBox="1"/>
            <p:nvPr/>
          </p:nvSpPr>
          <p:spPr>
            <a:xfrm>
              <a:off x="475488" y="899160"/>
              <a:ext cx="70458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专业成果可信，因为关键判断能够逐项核对。   </a:t>
              </a:r>
              <a:endParaRPr lang="zh-CN" sz="24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87680" y="1402080"/>
            <a:ext cx="11216640" cy="487680"/>
            <a:chOff x="487680" y="1402080"/>
            <a:chExt cx="11216640" cy="487680"/>
          </a:xfrm>
        </p:grpSpPr>
        <p:sp>
          <p:nvSpPr>
            <p:cNvPr id="9" name="Rectangle 9"/>
            <p:cNvSpPr/>
            <p:nvPr/>
          </p:nvSpPr>
          <p:spPr>
            <a:xfrm>
              <a:off x="487680" y="1402080"/>
              <a:ext cx="11216640" cy="487680"/>
            </a:xfrm>
            <a:prstGeom prst="rect">
              <a:avLst/>
            </a:prstGeom>
            <a:solidFill>
              <a:srgbClr val="003FA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0273" y="1488281"/>
              <a:ext cx="26671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可审阅的专业成果   </a:t>
              </a:r>
              <a:endParaRPr lang="zh-CN" sz="2020" b="1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27298" y="1528763"/>
              <a:ext cx="59363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判断能找到依据，缺口保留原因，业务决定有责任主体。   </a:t>
              </a:r>
              <a:endParaRPr lang="zh-CN" sz="1650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8536" y="2072640"/>
            <a:ext cx="6040683" cy="981599"/>
            <a:chOff x="478536" y="2072640"/>
            <a:chExt cx="6040683" cy="981599"/>
          </a:xfrm>
        </p:grpSpPr>
        <p:sp>
          <p:nvSpPr>
            <p:cNvPr id="13" name="Line 13"/>
            <p:cNvSpPr/>
            <p:nvPr/>
          </p:nvSpPr>
          <p:spPr>
            <a:xfrm>
              <a:off x="487680" y="207264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8536" y="2183130"/>
              <a:ext cx="16496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看得见依据   </a:t>
              </a:r>
              <a:endParaRPr lang="zh-CN" sz="1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0250" y="2524363"/>
              <a:ext cx="6038969" cy="286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6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当前配置、源码规则、流程模型与业务资料保留来源、版本和适用   </a:t>
              </a:r>
              <a:endParaRPr lang="zh-CN" sz="146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0250" y="2768203"/>
              <a:ext cx="3876972" cy="286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6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范围；知识解释语义，不替代当前事实。   </a:t>
              </a:r>
              <a:endParaRPr lang="zh-CN" sz="146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08776" y="2072640"/>
            <a:ext cx="6059189" cy="981599"/>
            <a:chOff x="6208776" y="2072640"/>
            <a:chExt cx="6059189" cy="981599"/>
          </a:xfrm>
        </p:grpSpPr>
        <p:sp>
          <p:nvSpPr>
            <p:cNvPr id="18" name="Line 18"/>
            <p:cNvSpPr/>
            <p:nvPr/>
          </p:nvSpPr>
          <p:spPr>
            <a:xfrm>
              <a:off x="6217920" y="207264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08776" y="2183130"/>
              <a:ext cx="18919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复核得了计算   </a:t>
              </a:r>
              <a:endParaRPr lang="zh-CN" sz="1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10491" y="2524363"/>
              <a:ext cx="6057474" cy="286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6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关系匹配、流程解析、条件与差异计算由确定性能力承担；Agent   </a:t>
              </a:r>
              <a:endParaRPr lang="zh-CN" sz="146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10491" y="2768203"/>
              <a:ext cx="2953210" cy="286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6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 组织调查、综合解释与建议。   </a:t>
              </a:r>
              <a:endParaRPr lang="zh-CN" sz="146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78536" y="3291840"/>
            <a:ext cx="6040683" cy="981599"/>
            <a:chOff x="478536" y="3291840"/>
            <a:chExt cx="6040683" cy="981599"/>
          </a:xfrm>
        </p:grpSpPr>
        <p:sp>
          <p:nvSpPr>
            <p:cNvPr id="23" name="Line 23"/>
            <p:cNvSpPr/>
            <p:nvPr/>
          </p:nvSpPr>
          <p:spPr>
            <a:xfrm>
              <a:off x="487680" y="329184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8536" y="3402330"/>
              <a:ext cx="21343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分得清业务责任   </a:t>
              </a:r>
              <a:endParaRPr lang="zh-CN" sz="1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250" y="3743563"/>
              <a:ext cx="6038969" cy="286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6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顾问直接操作：确认范围、复核、补充输入、记录决定。业务用户   </a:t>
              </a:r>
              <a:endParaRPr lang="zh-CN" sz="146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250" y="3987403"/>
              <a:ext cx="5252789" cy="286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6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通过现有协作：决定职责安排、业务真值与业务正确性。   </a:t>
              </a:r>
              <a:endParaRPr lang="zh-CN" sz="146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08776" y="3291840"/>
            <a:ext cx="6040684" cy="981599"/>
            <a:chOff x="6208776" y="3291840"/>
            <a:chExt cx="6040684" cy="981599"/>
          </a:xfrm>
        </p:grpSpPr>
        <p:sp>
          <p:nvSpPr>
            <p:cNvPr id="28" name="Line 28"/>
            <p:cNvSpPr/>
            <p:nvPr/>
          </p:nvSpPr>
          <p:spPr>
            <a:xfrm>
              <a:off x="6217920" y="329184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08776" y="3402330"/>
              <a:ext cx="18919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留得住上下文   </a:t>
              </a:r>
              <a:endParaRPr lang="zh-CN" sz="1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10491" y="3743563"/>
              <a:ext cx="6038969" cy="286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6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任务核心关联成果、证据、未知项、人工决定与正式修订；后续复   </a:t>
              </a:r>
              <a:endParaRPr lang="zh-CN" sz="146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10491" y="3987403"/>
              <a:ext cx="2697701" cy="286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6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核、交接和处理有据可循。   </a:t>
              </a:r>
              <a:endParaRPr lang="zh-CN" sz="146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80441" y="4632960"/>
            <a:ext cx="11223879" cy="978313"/>
            <a:chOff x="480441" y="4632960"/>
            <a:chExt cx="11223879" cy="978313"/>
          </a:xfrm>
        </p:grpSpPr>
        <p:sp>
          <p:nvSpPr>
            <p:cNvPr id="33" name="Line 33"/>
            <p:cNvSpPr/>
            <p:nvPr/>
          </p:nvSpPr>
          <p:spPr>
            <a:xfrm>
              <a:off x="487680" y="4632960"/>
              <a:ext cx="11216640" cy="9525"/>
            </a:xfrm>
            <a:custGeom>
              <a:avLst/>
              <a:gdLst/>
              <a:ahLst/>
              <a:cxnLst/>
              <a:rect l="l" t="t" r="r" b="b"/>
              <a:pathLst>
                <a:path w="11216640" h="9525">
                  <a:moveTo>
                    <a:pt x="0" y="0"/>
                  </a:moveTo>
                  <a:lnTo>
                    <a:pt x="1121664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80441" y="4722971"/>
              <a:ext cx="41688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技术依据：调用边界可约束，分析结果可核对   </a:t>
              </a:r>
              <a:endParaRPr lang="zh-CN" sz="142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23504" y="4747260"/>
              <a:ext cx="1981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技术 PoC · 非业务验收   </a:t>
              </a:r>
              <a:endParaRPr lang="zh-CN" sz="120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0441" y="5027771"/>
              <a:ext cx="16495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T3 · 调用受控   </a:t>
              </a:r>
              <a:endParaRPr lang="zh-CN" sz="142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370582" y="5035868"/>
              <a:ext cx="5402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未注册工具与越界参数被拒绝；单来源失败保留独立有效结果。   </a:t>
              </a:r>
              <a:endParaRPr lang="zh-CN" sz="135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0441" y="5332571"/>
              <a:ext cx="18514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T4 · 分析可核验   </a:t>
              </a:r>
              <a:endParaRPr lang="zh-CN" sz="142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70582" y="5340668"/>
              <a:ext cx="68305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受支持风险见证与独立真值表一致；篡改机械结果或删除 UNKNOWN 被拒绝。   </a:t>
              </a:r>
              <a:endParaRPr lang="zh-CN" sz="135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150727" y="5929789"/>
            <a:ext cx="669544" cy="190690"/>
            <a:chOff x="11150727" y="5929789"/>
            <a:chExt cx="669544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11150727" y="592978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12 / 15   </a:t>
              </a:r>
              <a:endParaRPr lang="en-US" sz="980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/>
          <p:nvPr/>
        </p:nvSpPr>
        <p:spPr>
          <a:xfrm>
            <a:off x="396240" y="322516"/>
            <a:ext cx="4239292" cy="521970"/>
          </a:xfrm>
          <a:prstGeom prst="rect">
            <a:avLst/>
          </a:prstGeom>
          <a:noFill/>
          <a:ln>
            <a:noFill/>
          </a:ln>
        </p:spPr>
        <p:txBody>
          <a:bodyPr wrap="none" lIns="91440" tIns="45810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项目</a:t>
            </a:r>
            <a:r>
              <a:rPr lang="zh-CN" sz="2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展示</a:t>
            </a:r>
            <a:endParaRPr lang="zh-CN" sz="280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365" y="418465"/>
            <a:ext cx="250825" cy="33083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476250" y="899160"/>
            <a:ext cx="107950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24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新增预算复核要求，审批流程如何调整？</a:t>
            </a:r>
            <a:endParaRPr lang="zh-CN" sz="2400" b="1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487680" y="1402080"/>
            <a:ext cx="11216640" cy="48768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63575" y="1439545"/>
            <a:ext cx="1055370" cy="264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业务要求   </a:t>
            </a:r>
            <a:endParaRPr lang="zh-CN" sz="135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62305" y="1658620"/>
            <a:ext cx="7403465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资本性支出在部门负责人审批后增加预算复核；普通费用保持原审批路径。   </a:t>
            </a:r>
            <a:endParaRPr lang="zh-CN" sz="1580" b="1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30130" y="1447165"/>
            <a:ext cx="1345565" cy="2495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方案设计示意   </a:t>
            </a:r>
            <a:endParaRPr lang="zh-CN" sz="128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78155" y="2174875"/>
            <a:ext cx="1216660" cy="3663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原流程   </a:t>
            </a:r>
            <a:endParaRPr lang="zh-CN" sz="188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2194560" y="2194560"/>
            <a:ext cx="914400" cy="487680"/>
          </a:xfrm>
          <a:prstGeom prst="rect">
            <a:avLst/>
          </a:prstGeom>
          <a:solidFill>
            <a:srgbClr val="FFFFFF"/>
          </a:solidFill>
          <a:ln w="7620">
            <a:solidFill>
              <a:srgbClr val="BDCEE3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308225" y="2329180"/>
            <a:ext cx="792480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申请   </a:t>
            </a:r>
            <a:endParaRPr lang="zh-CN" sz="1580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3474720" y="2194560"/>
            <a:ext cx="1402080" cy="487680"/>
          </a:xfrm>
          <a:prstGeom prst="rect">
            <a:avLst/>
          </a:prstGeom>
          <a:solidFill>
            <a:srgbClr val="FFFFFF"/>
          </a:solidFill>
          <a:ln w="7620">
            <a:solidFill>
              <a:srgbClr val="BDCEE3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588385" y="2329180"/>
            <a:ext cx="1430655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部门负责人   </a:t>
            </a:r>
            <a:endParaRPr lang="zh-CN" sz="1580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10485120" y="2194560"/>
            <a:ext cx="1219200" cy="487680"/>
          </a:xfrm>
          <a:prstGeom prst="rect">
            <a:avLst/>
          </a:prstGeom>
          <a:solidFill>
            <a:srgbClr val="FFFFFF"/>
          </a:solidFill>
          <a:ln w="7620">
            <a:solidFill>
              <a:srgbClr val="BDCEE3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0598785" y="2329180"/>
            <a:ext cx="1217930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财务共享   </a:t>
            </a:r>
            <a:endParaRPr lang="zh-CN" sz="1580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21" name="Line 21"/>
          <p:cNvSpPr/>
          <p:nvPr/>
        </p:nvSpPr>
        <p:spPr>
          <a:xfrm>
            <a:off x="3169920" y="2438400"/>
            <a:ext cx="182880" cy="9525"/>
          </a:xfrm>
          <a:custGeom>
            <a:avLst/>
            <a:gdLst/>
            <a:ahLst/>
            <a:cxnLst/>
            <a:rect l="l" t="t" r="r" b="b"/>
            <a:pathLst>
              <a:path w="182880" h="9525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22" name="Line 22"/>
          <p:cNvSpPr/>
          <p:nvPr/>
        </p:nvSpPr>
        <p:spPr>
          <a:xfrm>
            <a:off x="3352800" y="2407920"/>
            <a:ext cx="60960" cy="30480"/>
          </a:xfrm>
          <a:custGeom>
            <a:avLst/>
            <a:gdLst/>
            <a:ahLst/>
            <a:cxnLst/>
            <a:rect l="l" t="t" r="r" b="b"/>
            <a:pathLst>
              <a:path w="60960" h="30480">
                <a:moveTo>
                  <a:pt x="0" y="0"/>
                </a:moveTo>
                <a:lnTo>
                  <a:pt x="60960" y="304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23" name="Line 23"/>
          <p:cNvSpPr/>
          <p:nvPr/>
        </p:nvSpPr>
        <p:spPr>
          <a:xfrm>
            <a:off x="3352800" y="2438400"/>
            <a:ext cx="60960" cy="30480"/>
          </a:xfrm>
          <a:custGeom>
            <a:avLst/>
            <a:gdLst/>
            <a:ahLst/>
            <a:cxnLst/>
            <a:rect l="l" t="t" r="r" b="b"/>
            <a:pathLst>
              <a:path w="60960" h="30480">
                <a:moveTo>
                  <a:pt x="60960" y="0"/>
                </a:moveTo>
                <a:lnTo>
                  <a:pt x="0" y="304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24" name="Line 24"/>
          <p:cNvSpPr/>
          <p:nvPr/>
        </p:nvSpPr>
        <p:spPr>
          <a:xfrm>
            <a:off x="4937760" y="2438400"/>
            <a:ext cx="182880" cy="9525"/>
          </a:xfrm>
          <a:custGeom>
            <a:avLst/>
            <a:gdLst/>
            <a:ahLst/>
            <a:cxnLst/>
            <a:rect l="l" t="t" r="r" b="b"/>
            <a:pathLst>
              <a:path w="182880" h="9525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25" name="Line 25"/>
          <p:cNvSpPr/>
          <p:nvPr/>
        </p:nvSpPr>
        <p:spPr>
          <a:xfrm>
            <a:off x="5120640" y="2407920"/>
            <a:ext cx="60960" cy="30480"/>
          </a:xfrm>
          <a:custGeom>
            <a:avLst/>
            <a:gdLst/>
            <a:ahLst/>
            <a:cxnLst/>
            <a:rect l="l" t="t" r="r" b="b"/>
            <a:pathLst>
              <a:path w="60960" h="30480">
                <a:moveTo>
                  <a:pt x="0" y="0"/>
                </a:moveTo>
                <a:lnTo>
                  <a:pt x="60960" y="304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26" name="Line 26"/>
          <p:cNvSpPr/>
          <p:nvPr/>
        </p:nvSpPr>
        <p:spPr>
          <a:xfrm>
            <a:off x="5120640" y="2438400"/>
            <a:ext cx="60960" cy="30480"/>
          </a:xfrm>
          <a:custGeom>
            <a:avLst/>
            <a:gdLst/>
            <a:ahLst/>
            <a:cxnLst/>
            <a:rect l="l" t="t" r="r" b="b"/>
            <a:pathLst>
              <a:path w="60960" h="30480">
                <a:moveTo>
                  <a:pt x="60960" y="0"/>
                </a:moveTo>
                <a:lnTo>
                  <a:pt x="0" y="304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27" name="Line 27"/>
          <p:cNvSpPr/>
          <p:nvPr/>
        </p:nvSpPr>
        <p:spPr>
          <a:xfrm>
            <a:off x="10119360" y="2438400"/>
            <a:ext cx="243840" cy="9525"/>
          </a:xfrm>
          <a:custGeom>
            <a:avLst/>
            <a:gdLst/>
            <a:ahLst/>
            <a:cxnLst/>
            <a:rect l="l" t="t" r="r" b="b"/>
            <a:pathLst>
              <a:path w="243840" h="9525">
                <a:moveTo>
                  <a:pt x="0" y="0"/>
                </a:moveTo>
                <a:lnTo>
                  <a:pt x="243840" y="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28" name="Line 28"/>
          <p:cNvSpPr/>
          <p:nvPr/>
        </p:nvSpPr>
        <p:spPr>
          <a:xfrm>
            <a:off x="10363200" y="2407920"/>
            <a:ext cx="60960" cy="30480"/>
          </a:xfrm>
          <a:custGeom>
            <a:avLst/>
            <a:gdLst/>
            <a:ahLst/>
            <a:cxnLst/>
            <a:rect l="l" t="t" r="r" b="b"/>
            <a:pathLst>
              <a:path w="60960" h="30480">
                <a:moveTo>
                  <a:pt x="0" y="0"/>
                </a:moveTo>
                <a:lnTo>
                  <a:pt x="60960" y="304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29" name="Line 29"/>
          <p:cNvSpPr/>
          <p:nvPr/>
        </p:nvSpPr>
        <p:spPr>
          <a:xfrm>
            <a:off x="10363200" y="2438400"/>
            <a:ext cx="60960" cy="30480"/>
          </a:xfrm>
          <a:custGeom>
            <a:avLst/>
            <a:gdLst/>
            <a:ahLst/>
            <a:cxnLst/>
            <a:rect l="l" t="t" r="r" b="b"/>
            <a:pathLst>
              <a:path w="60960" h="30480">
                <a:moveTo>
                  <a:pt x="60960" y="0"/>
                </a:moveTo>
                <a:lnTo>
                  <a:pt x="0" y="304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78155" y="3150235"/>
            <a:ext cx="1470025" cy="3663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拟议流程   </a:t>
            </a:r>
            <a:endParaRPr lang="zh-CN" sz="188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2194560" y="3169920"/>
            <a:ext cx="914400" cy="487680"/>
          </a:xfrm>
          <a:prstGeom prst="rect">
            <a:avLst/>
          </a:prstGeom>
          <a:solidFill>
            <a:srgbClr val="FFFFFF"/>
          </a:solidFill>
          <a:ln w="7620">
            <a:solidFill>
              <a:srgbClr val="BDCEE3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2308225" y="3304540"/>
            <a:ext cx="792480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申请   </a:t>
            </a:r>
            <a:endParaRPr lang="zh-CN" sz="1580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34" name="Rectangle 34"/>
          <p:cNvSpPr/>
          <p:nvPr/>
        </p:nvSpPr>
        <p:spPr>
          <a:xfrm>
            <a:off x="3474720" y="3169920"/>
            <a:ext cx="1402080" cy="487680"/>
          </a:xfrm>
          <a:prstGeom prst="rect">
            <a:avLst/>
          </a:prstGeom>
          <a:solidFill>
            <a:srgbClr val="FFFFFF"/>
          </a:solidFill>
          <a:ln w="7620">
            <a:solidFill>
              <a:srgbClr val="BDCEE3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588385" y="3304540"/>
            <a:ext cx="1430655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部门负责人   </a:t>
            </a:r>
            <a:endParaRPr lang="zh-CN" sz="1580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36" name="Rectangle 36"/>
          <p:cNvSpPr/>
          <p:nvPr/>
        </p:nvSpPr>
        <p:spPr>
          <a:xfrm>
            <a:off x="10485120" y="3169920"/>
            <a:ext cx="1219200" cy="487680"/>
          </a:xfrm>
          <a:prstGeom prst="rect">
            <a:avLst/>
          </a:prstGeom>
          <a:solidFill>
            <a:srgbClr val="FFFFFF"/>
          </a:solidFill>
          <a:ln w="7620">
            <a:solidFill>
              <a:srgbClr val="BDCEE3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598785" y="3304540"/>
            <a:ext cx="1217930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财务共享   </a:t>
            </a:r>
            <a:endParaRPr lang="zh-CN" sz="1580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38" name="Line 38"/>
          <p:cNvSpPr/>
          <p:nvPr/>
        </p:nvSpPr>
        <p:spPr>
          <a:xfrm>
            <a:off x="3169920" y="3413760"/>
            <a:ext cx="182880" cy="9525"/>
          </a:xfrm>
          <a:custGeom>
            <a:avLst/>
            <a:gdLst/>
            <a:ahLst/>
            <a:cxnLst/>
            <a:rect l="l" t="t" r="r" b="b"/>
            <a:pathLst>
              <a:path w="182880" h="9525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39" name="Line 39"/>
          <p:cNvSpPr/>
          <p:nvPr/>
        </p:nvSpPr>
        <p:spPr>
          <a:xfrm>
            <a:off x="3352800" y="3383280"/>
            <a:ext cx="60960" cy="30480"/>
          </a:xfrm>
          <a:custGeom>
            <a:avLst/>
            <a:gdLst/>
            <a:ahLst/>
            <a:cxnLst/>
            <a:rect l="l" t="t" r="r" b="b"/>
            <a:pathLst>
              <a:path w="60960" h="30480">
                <a:moveTo>
                  <a:pt x="0" y="0"/>
                </a:moveTo>
                <a:lnTo>
                  <a:pt x="60960" y="304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40" name="Line 40"/>
          <p:cNvSpPr/>
          <p:nvPr/>
        </p:nvSpPr>
        <p:spPr>
          <a:xfrm>
            <a:off x="3352800" y="3413760"/>
            <a:ext cx="60960" cy="30480"/>
          </a:xfrm>
          <a:custGeom>
            <a:avLst/>
            <a:gdLst/>
            <a:ahLst/>
            <a:cxnLst/>
            <a:rect l="l" t="t" r="r" b="b"/>
            <a:pathLst>
              <a:path w="60960" h="30480">
                <a:moveTo>
                  <a:pt x="60960" y="0"/>
                </a:moveTo>
                <a:lnTo>
                  <a:pt x="0" y="304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41" name="Line 41"/>
          <p:cNvSpPr/>
          <p:nvPr/>
        </p:nvSpPr>
        <p:spPr>
          <a:xfrm>
            <a:off x="4937760" y="3413760"/>
            <a:ext cx="182880" cy="9525"/>
          </a:xfrm>
          <a:custGeom>
            <a:avLst/>
            <a:gdLst/>
            <a:ahLst/>
            <a:cxnLst/>
            <a:rect l="l" t="t" r="r" b="b"/>
            <a:pathLst>
              <a:path w="182880" h="9525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42" name="Line 42"/>
          <p:cNvSpPr/>
          <p:nvPr/>
        </p:nvSpPr>
        <p:spPr>
          <a:xfrm>
            <a:off x="5120640" y="3383280"/>
            <a:ext cx="60960" cy="30480"/>
          </a:xfrm>
          <a:custGeom>
            <a:avLst/>
            <a:gdLst/>
            <a:ahLst/>
            <a:cxnLst/>
            <a:rect l="l" t="t" r="r" b="b"/>
            <a:pathLst>
              <a:path w="60960" h="30480">
                <a:moveTo>
                  <a:pt x="0" y="0"/>
                </a:moveTo>
                <a:lnTo>
                  <a:pt x="60960" y="304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43" name="Line 43"/>
          <p:cNvSpPr/>
          <p:nvPr/>
        </p:nvSpPr>
        <p:spPr>
          <a:xfrm>
            <a:off x="5120640" y="3413760"/>
            <a:ext cx="60960" cy="30480"/>
          </a:xfrm>
          <a:custGeom>
            <a:avLst/>
            <a:gdLst/>
            <a:ahLst/>
            <a:cxnLst/>
            <a:rect l="l" t="t" r="r" b="b"/>
            <a:pathLst>
              <a:path w="60960" h="30480">
                <a:moveTo>
                  <a:pt x="60960" y="0"/>
                </a:moveTo>
                <a:lnTo>
                  <a:pt x="0" y="304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44" name="Line 44"/>
          <p:cNvSpPr/>
          <p:nvPr/>
        </p:nvSpPr>
        <p:spPr>
          <a:xfrm>
            <a:off x="10119360" y="3413760"/>
            <a:ext cx="243840" cy="9525"/>
          </a:xfrm>
          <a:custGeom>
            <a:avLst/>
            <a:gdLst/>
            <a:ahLst/>
            <a:cxnLst/>
            <a:rect l="l" t="t" r="r" b="b"/>
            <a:pathLst>
              <a:path w="243840" h="9525">
                <a:moveTo>
                  <a:pt x="0" y="0"/>
                </a:moveTo>
                <a:lnTo>
                  <a:pt x="243840" y="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45" name="Line 45"/>
          <p:cNvSpPr/>
          <p:nvPr/>
        </p:nvSpPr>
        <p:spPr>
          <a:xfrm>
            <a:off x="10363200" y="3383280"/>
            <a:ext cx="60960" cy="30480"/>
          </a:xfrm>
          <a:custGeom>
            <a:avLst/>
            <a:gdLst/>
            <a:ahLst/>
            <a:cxnLst/>
            <a:rect l="l" t="t" r="r" b="b"/>
            <a:pathLst>
              <a:path w="60960" h="30480">
                <a:moveTo>
                  <a:pt x="0" y="0"/>
                </a:moveTo>
                <a:lnTo>
                  <a:pt x="60960" y="304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46" name="Line 46"/>
          <p:cNvSpPr/>
          <p:nvPr/>
        </p:nvSpPr>
        <p:spPr>
          <a:xfrm>
            <a:off x="10363200" y="3413760"/>
            <a:ext cx="60960" cy="30480"/>
          </a:xfrm>
          <a:custGeom>
            <a:avLst/>
            <a:gdLst/>
            <a:ahLst/>
            <a:cxnLst/>
            <a:rect l="l" t="t" r="r" b="b"/>
            <a:pathLst>
              <a:path w="60960" h="30480">
                <a:moveTo>
                  <a:pt x="60960" y="0"/>
                </a:moveTo>
                <a:lnTo>
                  <a:pt x="0" y="304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481330" y="2484120"/>
            <a:ext cx="1587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各类支出沿用</a:t>
            </a:r>
            <a:endParaRPr lang="zh-CN" sz="1280" dirty="0">
              <a:solidFill>
                <a:srgbClr val="55677D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481330" y="2679700"/>
            <a:ext cx="1587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同一审批路径。</a:t>
            </a:r>
            <a:endParaRPr lang="zh-CN" sz="1280" dirty="0">
              <a:solidFill>
                <a:srgbClr val="55677D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481330" y="345948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保留审批主干，</a:t>
            </a:r>
            <a:endParaRPr lang="zh-CN" sz="1280" dirty="0">
              <a:solidFill>
                <a:srgbClr val="55677D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481330" y="36576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新增预算复核。</a:t>
            </a:r>
            <a:endParaRPr lang="zh-CN" sz="1280" dirty="0">
              <a:solidFill>
                <a:srgbClr val="55677D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6271260" y="2338070"/>
            <a:ext cx="34290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未设置预算复核环节</a:t>
            </a:r>
            <a:endParaRPr lang="zh-CN" sz="1500" dirty="0">
              <a:solidFill>
                <a:srgbClr val="55677D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54" name="Line 54"/>
          <p:cNvSpPr/>
          <p:nvPr/>
        </p:nvSpPr>
        <p:spPr>
          <a:xfrm>
            <a:off x="487680" y="2926080"/>
            <a:ext cx="11216640" cy="9525"/>
          </a:xfrm>
          <a:custGeom>
            <a:avLst/>
            <a:gdLst/>
            <a:ahLst/>
            <a:cxnLst/>
            <a:rect l="l" t="t" r="r" b="b"/>
            <a:pathLst>
              <a:path w="11216640" h="9525">
                <a:moveTo>
                  <a:pt x="0" y="0"/>
                </a:moveTo>
                <a:lnTo>
                  <a:pt x="11216640" y="0"/>
                </a:lnTo>
              </a:path>
            </a:pathLst>
          </a:custGeom>
          <a:noFill/>
          <a:ln w="7620">
            <a:solidFill>
              <a:srgbClr val="BDCEE3"/>
            </a:solidFill>
          </a:ln>
        </p:spPr>
      </p:sp>
      <p:sp>
        <p:nvSpPr>
          <p:cNvPr id="56" name="Line 56"/>
          <p:cNvSpPr/>
          <p:nvPr/>
        </p:nvSpPr>
        <p:spPr>
          <a:xfrm>
            <a:off x="5181600" y="3169920"/>
            <a:ext cx="9525" cy="487680"/>
          </a:xfrm>
          <a:custGeom>
            <a:avLst/>
            <a:gdLst/>
            <a:ahLst/>
            <a:cxnLst/>
            <a:rect l="l" t="t" r="r" b="b"/>
            <a:pathLst>
              <a:path w="9525" h="487680">
                <a:moveTo>
                  <a:pt x="0" y="0"/>
                </a:moveTo>
                <a:lnTo>
                  <a:pt x="0" y="4876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57" name="Line 57"/>
          <p:cNvSpPr/>
          <p:nvPr/>
        </p:nvSpPr>
        <p:spPr>
          <a:xfrm>
            <a:off x="5181600" y="3169920"/>
            <a:ext cx="121920" cy="9525"/>
          </a:xfrm>
          <a:custGeom>
            <a:avLst/>
            <a:gdLst/>
            <a:ahLst/>
            <a:cxnLst/>
            <a:rect l="l" t="t" r="r" b="b"/>
            <a:pathLst>
              <a:path w="121920" h="9525">
                <a:moveTo>
                  <a:pt x="0" y="0"/>
                </a:moveTo>
                <a:lnTo>
                  <a:pt x="121920" y="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58" name="Line 58"/>
          <p:cNvSpPr/>
          <p:nvPr/>
        </p:nvSpPr>
        <p:spPr>
          <a:xfrm>
            <a:off x="5181600" y="3657600"/>
            <a:ext cx="121920" cy="9525"/>
          </a:xfrm>
          <a:custGeom>
            <a:avLst/>
            <a:gdLst/>
            <a:ahLst/>
            <a:cxnLst/>
            <a:rect l="l" t="t" r="r" b="b"/>
            <a:pathLst>
              <a:path w="121920" h="9525">
                <a:moveTo>
                  <a:pt x="0" y="0"/>
                </a:moveTo>
                <a:lnTo>
                  <a:pt x="121920" y="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5356225" y="3060700"/>
            <a:ext cx="1447800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资本性支出   </a:t>
            </a:r>
            <a:endParaRPr lang="zh-CN" sz="158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60" name="Line 60"/>
          <p:cNvSpPr/>
          <p:nvPr/>
        </p:nvSpPr>
        <p:spPr>
          <a:xfrm>
            <a:off x="6766560" y="316992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61" name="Line 61"/>
          <p:cNvSpPr/>
          <p:nvPr/>
        </p:nvSpPr>
        <p:spPr>
          <a:xfrm>
            <a:off x="7376160" y="3139440"/>
            <a:ext cx="60960" cy="30480"/>
          </a:xfrm>
          <a:custGeom>
            <a:avLst/>
            <a:gdLst/>
            <a:ahLst/>
            <a:cxnLst/>
            <a:rect l="l" t="t" r="r" b="b"/>
            <a:pathLst>
              <a:path w="60960" h="30480">
                <a:moveTo>
                  <a:pt x="0" y="0"/>
                </a:moveTo>
                <a:lnTo>
                  <a:pt x="60960" y="304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62" name="Line 62"/>
          <p:cNvSpPr/>
          <p:nvPr/>
        </p:nvSpPr>
        <p:spPr>
          <a:xfrm>
            <a:off x="7376160" y="3169920"/>
            <a:ext cx="60960" cy="30480"/>
          </a:xfrm>
          <a:custGeom>
            <a:avLst/>
            <a:gdLst/>
            <a:ahLst/>
            <a:cxnLst/>
            <a:rect l="l" t="t" r="r" b="b"/>
            <a:pathLst>
              <a:path w="60960" h="30480">
                <a:moveTo>
                  <a:pt x="60960" y="0"/>
                </a:moveTo>
                <a:lnTo>
                  <a:pt x="0" y="304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63" name="Rectangle 63"/>
          <p:cNvSpPr/>
          <p:nvPr/>
        </p:nvSpPr>
        <p:spPr>
          <a:xfrm>
            <a:off x="7559040" y="2987040"/>
            <a:ext cx="2194560" cy="36576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733665" y="3060700"/>
            <a:ext cx="1235075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预算复核   </a:t>
            </a:r>
            <a:endParaRPr lang="zh-CN" sz="158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5356225" y="3548380"/>
            <a:ext cx="1235075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普通费用   </a:t>
            </a:r>
            <a:endParaRPr lang="zh-CN" sz="158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66" name="Line 66"/>
          <p:cNvSpPr/>
          <p:nvPr/>
        </p:nvSpPr>
        <p:spPr>
          <a:xfrm>
            <a:off x="6766560" y="3657600"/>
            <a:ext cx="2926080" cy="9525"/>
          </a:xfrm>
          <a:custGeom>
            <a:avLst/>
            <a:gdLst/>
            <a:ahLst/>
            <a:cxnLst/>
            <a:rect l="l" t="t" r="r" b="b"/>
            <a:pathLst>
              <a:path w="2926080" h="9525">
                <a:moveTo>
                  <a:pt x="0" y="0"/>
                </a:moveTo>
                <a:lnTo>
                  <a:pt x="2926080" y="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67" name="Line 67"/>
          <p:cNvSpPr/>
          <p:nvPr/>
        </p:nvSpPr>
        <p:spPr>
          <a:xfrm>
            <a:off x="9692640" y="3627120"/>
            <a:ext cx="60960" cy="30480"/>
          </a:xfrm>
          <a:custGeom>
            <a:avLst/>
            <a:gdLst/>
            <a:ahLst/>
            <a:cxnLst/>
            <a:rect l="l" t="t" r="r" b="b"/>
            <a:pathLst>
              <a:path w="60960" h="30480">
                <a:moveTo>
                  <a:pt x="0" y="0"/>
                </a:moveTo>
                <a:lnTo>
                  <a:pt x="60960" y="304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68" name="Line 68"/>
          <p:cNvSpPr/>
          <p:nvPr/>
        </p:nvSpPr>
        <p:spPr>
          <a:xfrm>
            <a:off x="9692640" y="3657600"/>
            <a:ext cx="60960" cy="30480"/>
          </a:xfrm>
          <a:custGeom>
            <a:avLst/>
            <a:gdLst/>
            <a:ahLst/>
            <a:cxnLst/>
            <a:rect l="l" t="t" r="r" b="b"/>
            <a:pathLst>
              <a:path w="60960" h="30480">
                <a:moveTo>
                  <a:pt x="60960" y="0"/>
                </a:moveTo>
                <a:lnTo>
                  <a:pt x="0" y="304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7673975" y="3442970"/>
            <a:ext cx="1285875" cy="2787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保持原路径   </a:t>
            </a:r>
            <a:endParaRPr lang="zh-CN" sz="1420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8528050" y="3832860"/>
            <a:ext cx="1409700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按业务类别分流   </a:t>
            </a:r>
            <a:endParaRPr lang="zh-CN" sz="1200" dirty="0">
              <a:solidFill>
                <a:srgbClr val="55677D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71" name="Line 71"/>
          <p:cNvSpPr/>
          <p:nvPr/>
        </p:nvSpPr>
        <p:spPr>
          <a:xfrm>
            <a:off x="9814560" y="3169920"/>
            <a:ext cx="9525" cy="487680"/>
          </a:xfrm>
          <a:custGeom>
            <a:avLst/>
            <a:gdLst/>
            <a:ahLst/>
            <a:cxnLst/>
            <a:rect l="l" t="t" r="r" b="b"/>
            <a:pathLst>
              <a:path w="9525" h="487680">
                <a:moveTo>
                  <a:pt x="0" y="0"/>
                </a:moveTo>
                <a:lnTo>
                  <a:pt x="0" y="48768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72" name="Line 72"/>
          <p:cNvSpPr/>
          <p:nvPr/>
        </p:nvSpPr>
        <p:spPr>
          <a:xfrm>
            <a:off x="9753600" y="3169920"/>
            <a:ext cx="60960" cy="9525"/>
          </a:xfrm>
          <a:custGeom>
            <a:avLst/>
            <a:gdLst/>
            <a:ahLst/>
            <a:cxnLst/>
            <a:rect l="l" t="t" r="r" b="b"/>
            <a:pathLst>
              <a:path w="60960" h="9525">
                <a:moveTo>
                  <a:pt x="0" y="0"/>
                </a:moveTo>
                <a:lnTo>
                  <a:pt x="60960" y="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73" name="Line 73"/>
          <p:cNvSpPr/>
          <p:nvPr/>
        </p:nvSpPr>
        <p:spPr>
          <a:xfrm>
            <a:off x="9753600" y="3657600"/>
            <a:ext cx="60960" cy="9525"/>
          </a:xfrm>
          <a:custGeom>
            <a:avLst/>
            <a:gdLst/>
            <a:ahLst/>
            <a:cxnLst/>
            <a:rect l="l" t="t" r="r" b="b"/>
            <a:pathLst>
              <a:path w="60960" h="9525">
                <a:moveTo>
                  <a:pt x="0" y="0"/>
                </a:moveTo>
                <a:lnTo>
                  <a:pt x="60960" y="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74" name="Line 74"/>
          <p:cNvSpPr/>
          <p:nvPr/>
        </p:nvSpPr>
        <p:spPr>
          <a:xfrm>
            <a:off x="9814560" y="3413760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76" name="Line 76"/>
          <p:cNvSpPr/>
          <p:nvPr/>
        </p:nvSpPr>
        <p:spPr>
          <a:xfrm>
            <a:off x="487680" y="4145280"/>
            <a:ext cx="5486400" cy="9525"/>
          </a:xfrm>
          <a:custGeom>
            <a:avLst/>
            <a:gdLst/>
            <a:ahLst/>
            <a:cxnLst/>
            <a:rect l="l" t="t" r="r" b="b"/>
            <a:pathLst>
              <a:path w="5486400" h="9525">
                <a:moveTo>
                  <a:pt x="0" y="0"/>
                </a:moveTo>
                <a:lnTo>
                  <a:pt x="5486400" y="0"/>
                </a:lnTo>
              </a:path>
            </a:pathLst>
          </a:custGeom>
          <a:noFill/>
          <a:ln w="7620">
            <a:solidFill>
              <a:srgbClr val="BDCEE3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478790" y="4264025"/>
            <a:ext cx="1344930" cy="3371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调整依据   </a:t>
            </a:r>
            <a:endParaRPr lang="zh-CN" sz="172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480060" y="4546600"/>
            <a:ext cx="5397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新增预算复核环节，普通费用沿用原路径。</a:t>
            </a:r>
            <a:endParaRPr lang="en-US" altLang="zh-CN" sz="1500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  <a:p>
            <a:pPr algn="l"/>
            <a:r>
              <a:rPr lang="zh-CN" altLang="zh-CN" sz="150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支出类别识别所需字段及映射待确认。</a:t>
            </a:r>
            <a:endParaRPr lang="zh-CN" altLang="zh-CN" sz="1500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481330" y="5118100"/>
            <a:ext cx="5397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待业务决定：预算复核角色，以及类别缺失或</a:t>
            </a:r>
            <a:endParaRPr lang="en-US" altLang="zh-CN" sz="1280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  <a:p>
            <a:pPr algn="l"/>
            <a:r>
              <a:rPr lang="zh-CN" altLang="zh-CN" sz="1280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无法识别时的处理方式。</a:t>
            </a:r>
            <a:endParaRPr lang="zh-CN" altLang="zh-CN" sz="1280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82" name="Line 82"/>
          <p:cNvSpPr/>
          <p:nvPr/>
        </p:nvSpPr>
        <p:spPr>
          <a:xfrm>
            <a:off x="6217920" y="4145280"/>
            <a:ext cx="5486400" cy="9525"/>
          </a:xfrm>
          <a:custGeom>
            <a:avLst/>
            <a:gdLst/>
            <a:ahLst/>
            <a:cxnLst/>
            <a:rect l="l" t="t" r="r" b="b"/>
            <a:pathLst>
              <a:path w="5486400" h="9525">
                <a:moveTo>
                  <a:pt x="0" y="0"/>
                </a:moveTo>
                <a:lnTo>
                  <a:pt x="5486400" y="0"/>
                </a:lnTo>
              </a:path>
            </a:pathLst>
          </a:custGeom>
          <a:noFill/>
          <a:ln w="7620">
            <a:solidFill>
              <a:srgbClr val="BDCEE3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6209030" y="4264660"/>
            <a:ext cx="2286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72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验证重点</a:t>
            </a:r>
            <a:endParaRPr lang="zh-CN" sz="172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6210300" y="4546600"/>
            <a:ext cx="54737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资本性支出进入预算复核；普通费用路径不变；</a:t>
            </a:r>
            <a:endParaRPr lang="en-US" altLang="zh-CN" sz="1500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  <a:p>
            <a:pPr algn="l"/>
            <a:r>
              <a:rPr lang="zh-CN" altLang="zh-CN" sz="150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类别缺失或无法识别时不默认归入普通费用；</a:t>
            </a:r>
            <a:endParaRPr lang="en-US" altLang="zh-CN" sz="1500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  <a:p>
            <a:pPr algn="l"/>
            <a:r>
              <a:rPr lang="zh-CN" altLang="zh-CN" sz="150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预算复核角色能匹配到有效审批人。</a:t>
            </a:r>
            <a:endParaRPr lang="zh-CN" altLang="zh-CN" sz="1500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88" name="Rectangle 88"/>
          <p:cNvSpPr/>
          <p:nvPr/>
        </p:nvSpPr>
        <p:spPr>
          <a:xfrm>
            <a:off x="487680" y="5547360"/>
            <a:ext cx="11216640" cy="304800"/>
          </a:xfrm>
          <a:prstGeom prst="rect">
            <a:avLst/>
          </a:prstGeom>
          <a:solidFill>
            <a:srgbClr val="003FA9"/>
          </a:soli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662940" y="56007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交付成果：流程与配置草案、调整理由、待决定事项、验证清单</a:t>
            </a:r>
            <a:endParaRPr lang="zh-CN" sz="1500" dirty="0">
              <a:solidFill>
                <a:srgbClr val="FFFFFF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11150600" y="5929630"/>
            <a:ext cx="66929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09 / 15   </a:t>
            </a:r>
            <a:endParaRPr lang="en-US" sz="980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/>
          <p:nvPr/>
        </p:nvSpPr>
        <p:spPr>
          <a:xfrm>
            <a:off x="396240" y="322516"/>
            <a:ext cx="4239292" cy="521970"/>
          </a:xfrm>
          <a:prstGeom prst="rect">
            <a:avLst/>
          </a:prstGeom>
          <a:noFill/>
          <a:ln>
            <a:noFill/>
          </a:ln>
        </p:spPr>
        <p:txBody>
          <a:bodyPr wrap="none" lIns="91440" tIns="45810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项目展示</a:t>
            </a:r>
            <a:endParaRPr lang="zh-CN" sz="280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365" y="418465"/>
            <a:ext cx="250825" cy="33083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476250" y="899160"/>
            <a:ext cx="110490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24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人员离任：定位审批配置引用与待确认职责</a:t>
            </a:r>
            <a:endParaRPr lang="zh-CN" sz="2400" b="1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80060" y="1423670"/>
            <a:ext cx="112395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排查离任人员关联的审批配置，说明判断依据，并列出待业务确认或补充信息的事项。</a:t>
            </a:r>
            <a:endParaRPr lang="zh-CN" sz="1500" dirty="0">
              <a:solidFill>
                <a:srgbClr val="55677D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80060" y="1789430"/>
            <a:ext cx="78740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演示分类：配置影响</a:t>
            </a:r>
            <a:r>
              <a:rPr lang="en-US" altLang="zh-CN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1 </a:t>
            </a:r>
            <a:r>
              <a:rPr lang="zh-CN" altLang="en-US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项</a:t>
            </a:r>
            <a:r>
              <a:rPr lang="en-US" altLang="zh-CN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/ </a:t>
            </a:r>
            <a:r>
              <a:rPr lang="zh-CN" altLang="en-US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确认关联</a:t>
            </a:r>
            <a:r>
              <a:rPr lang="en-US" altLang="zh-CN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1 </a:t>
            </a:r>
            <a:r>
              <a:rPr lang="zh-CN" altLang="en-US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项</a:t>
            </a:r>
            <a:r>
              <a:rPr lang="en-US" altLang="zh-CN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/ </a:t>
            </a:r>
            <a:r>
              <a:rPr lang="zh-CN" altLang="en-US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待核实</a:t>
            </a:r>
            <a:r>
              <a:rPr lang="en-US" altLang="zh-CN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1 </a:t>
            </a:r>
            <a:r>
              <a:rPr lang="zh-CN" altLang="en-US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项</a:t>
            </a:r>
            <a:r>
              <a:rPr lang="en-US" altLang="zh-CN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/ </a:t>
            </a:r>
            <a:r>
              <a:rPr lang="zh-CN" altLang="en-US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暂无法判断</a:t>
            </a:r>
            <a:r>
              <a:rPr lang="en-US" altLang="zh-CN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1 </a:t>
            </a:r>
            <a:r>
              <a:rPr lang="zh-CN" altLang="en-US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项</a:t>
            </a:r>
            <a:endParaRPr lang="zh-CN" altLang="en-US" sz="135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81330" y="2095500"/>
            <a:ext cx="78740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演示数据，共四项，以下展示三项；确认关联不计入确认配置影响。</a:t>
            </a:r>
            <a:endParaRPr lang="zh-CN" sz="1200" dirty="0">
              <a:solidFill>
                <a:srgbClr val="55677D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487680" y="2377440"/>
            <a:ext cx="7680960" cy="2178685"/>
          </a:xfrm>
          <a:prstGeom prst="rect">
            <a:avLst/>
          </a:prstGeom>
          <a:noFill/>
          <a:ln w="7620">
            <a:solidFill>
              <a:srgbClr val="BDCEE3"/>
            </a:solidFill>
          </a:ln>
        </p:spPr>
      </p:sp>
      <p:sp>
        <p:nvSpPr>
          <p:cNvPr id="15" name="Line 15"/>
          <p:cNvSpPr/>
          <p:nvPr/>
        </p:nvSpPr>
        <p:spPr>
          <a:xfrm>
            <a:off x="487680" y="4693920"/>
            <a:ext cx="7680960" cy="9525"/>
          </a:xfrm>
          <a:custGeom>
            <a:avLst/>
            <a:gdLst/>
            <a:ahLst/>
            <a:cxnLst/>
            <a:rect l="l" t="t" r="r" b="b"/>
            <a:pathLst>
              <a:path w="7680960" h="9525">
                <a:moveTo>
                  <a:pt x="0" y="0"/>
                </a:moveTo>
                <a:lnTo>
                  <a:pt x="7680960" y="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80060" y="4828540"/>
            <a:ext cx="19431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58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固定处理人引用</a:t>
            </a:r>
            <a:endParaRPr lang="zh-CN" sz="158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80060" y="51054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影响项</a:t>
            </a:r>
            <a:r>
              <a:rPr lang="en-US" altLang="zh-CN" sz="135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IMP-01</a:t>
            </a:r>
            <a:endParaRPr lang="en-US" altLang="zh-CN" sz="1350" dirty="0">
              <a:solidFill>
                <a:srgbClr val="55677D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2499360" y="4815840"/>
            <a:ext cx="5669280" cy="435610"/>
          </a:xfrm>
          <a:prstGeom prst="rect">
            <a:avLst/>
          </a:prstGeom>
          <a:noFill/>
          <a:ln w="7620">
            <a:solidFill>
              <a:srgbClr val="BDCEE3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80060" y="5359400"/>
            <a:ext cx="7708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65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职责承接由业务决定，配置影响需核对适用范围。</a:t>
            </a:r>
            <a:endParaRPr lang="zh-CN" sz="1650" b="1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80060" y="5676900"/>
            <a:ext cx="7747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取得职责决定后整理调整材料；待核实项继续复核，</a:t>
            </a:r>
            <a:endParaRPr lang="en-US" altLang="zh-CN" sz="1200" dirty="0">
              <a:solidFill>
                <a:srgbClr val="55677D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  <a:p>
            <a:pPr algn="l"/>
            <a:r>
              <a:rPr lang="zh-CN" altLang="zh-CN" sz="120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无法判断的事项列明缺失信息，补充后再判断。</a:t>
            </a:r>
            <a:endParaRPr lang="zh-CN" altLang="zh-CN" sz="1200" dirty="0">
              <a:solidFill>
                <a:srgbClr val="55677D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23" name="Line 23"/>
          <p:cNvSpPr/>
          <p:nvPr/>
        </p:nvSpPr>
        <p:spPr>
          <a:xfrm>
            <a:off x="8412480" y="1828800"/>
            <a:ext cx="9525" cy="4023360"/>
          </a:xfrm>
          <a:custGeom>
            <a:avLst/>
            <a:gdLst/>
            <a:ahLst/>
            <a:cxnLst/>
            <a:rect l="l" t="t" r="r" b="b"/>
            <a:pathLst>
              <a:path w="9525" h="4023360">
                <a:moveTo>
                  <a:pt x="0" y="0"/>
                </a:moveTo>
                <a:lnTo>
                  <a:pt x="0" y="4023360"/>
                </a:lnTo>
              </a:path>
            </a:pathLst>
          </a:custGeom>
          <a:noFill/>
          <a:ln w="7620">
            <a:solidFill>
              <a:srgbClr val="BDCEE3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587740" y="1841500"/>
            <a:ext cx="3175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58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该影响项的判断依据</a:t>
            </a:r>
            <a:endParaRPr lang="zh-CN" sz="158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26" name="Rectangle 26"/>
          <p:cNvSpPr/>
          <p:nvPr/>
        </p:nvSpPr>
        <p:spPr>
          <a:xfrm>
            <a:off x="8595360" y="2194560"/>
            <a:ext cx="3108960" cy="3629660"/>
          </a:xfrm>
          <a:prstGeom prst="rect">
            <a:avLst/>
          </a:prstGeom>
          <a:noFill/>
          <a:ln w="7620">
            <a:solidFill>
              <a:srgbClr val="BDCEE3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1150600" y="5929630"/>
            <a:ext cx="66929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10 / 15   </a:t>
            </a:r>
            <a:endParaRPr lang="en-US" sz="980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7680" y="2376805"/>
            <a:ext cx="7680325" cy="2179955"/>
          </a:xfrm>
          <a:prstGeom prst="rect">
            <a:avLst/>
          </a:prstGeom>
          <a:solidFill>
            <a:srgbClr val="FFFFFF"/>
          </a:solidFill>
          <a:ln w="6350">
            <a:solidFill>
              <a:srgbClr val="CCD3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87680" y="2376805"/>
            <a:ext cx="7680325" cy="317500"/>
          </a:xfrm>
          <a:prstGeom prst="rect">
            <a:avLst/>
          </a:prstGeom>
          <a:solidFill>
            <a:srgbClr val="F0F3F0"/>
          </a:solidFill>
          <a:ln w="6350">
            <a:solidFill>
              <a:srgbClr val="CCD3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96900" y="2438400"/>
            <a:ext cx="20701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00" b="1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</a:rPr>
              <a:t>流程与位置</a:t>
            </a:r>
            <a:endParaRPr lang="zh-CN" altLang="en-US" sz="1100" b="1">
              <a:solidFill>
                <a:srgbClr val="68736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19400" y="24384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00" b="1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</a:rPr>
              <a:t>调查发现</a:t>
            </a:r>
            <a:endParaRPr lang="zh-CN" altLang="en-US" sz="1100" b="1">
              <a:solidFill>
                <a:srgbClr val="68736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39000" y="2438400"/>
            <a:ext cx="8763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00" b="1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</a:rPr>
              <a:t>演示分类</a:t>
            </a:r>
            <a:endParaRPr lang="zh-CN" altLang="en-US" sz="1100" b="1">
              <a:solidFill>
                <a:srgbClr val="68736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87680" y="2694305"/>
            <a:ext cx="7680325" cy="635000"/>
          </a:xfrm>
          <a:prstGeom prst="rect">
            <a:avLst/>
          </a:prstGeom>
          <a:solidFill>
            <a:srgbClr val="FFFAEB"/>
          </a:solidFill>
          <a:ln w="6350">
            <a:solidFill>
              <a:srgbClr val="CCD3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96900" y="2781300"/>
            <a:ext cx="2133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付款流程</a:t>
            </a:r>
            <a:r>
              <a:rPr lang="en-US" altLang="zh-CN" sz="11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V18</a:t>
            </a:r>
            <a:endParaRPr lang="en-US" altLang="zh-CN" sz="115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  <a:p>
            <a:pPr>
              <a:spcAft>
                <a:spcPts val="0"/>
              </a:spcAft>
            </a:pPr>
            <a:r>
              <a:rPr lang="en-US" altLang="zh-CN" sz="11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N-AP-04 · </a:t>
            </a:r>
            <a:r>
              <a:rPr lang="zh-CN" altLang="en-US" sz="11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固定处理人</a:t>
            </a:r>
            <a:endParaRPr lang="zh-CN" altLang="en-US" sz="115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819400" y="2781300"/>
            <a:ext cx="42037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固定处理人仍引用离任人员，</a:t>
            </a:r>
            <a:endParaRPr lang="en-US" altLang="zh-CN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spcAft>
                <a:spcPts val="0"/>
              </a:spcAft>
            </a:pPr>
            <a:r>
              <a:rPr lang="zh-CN" altLang="zh-CN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待确认职责承接人。</a:t>
            </a:r>
            <a:endParaRPr lang="zh-CN" altLang="zh-CN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239000" y="2781300"/>
            <a:ext cx="889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00" b="1">
                <a:solidFill>
                  <a:srgbClr val="00854B"/>
                </a:solidFill>
                <a:latin typeface="微软雅黑" panose="020B0703020204020201" charset="-122"/>
                <a:ea typeface="微软雅黑" panose="020B0703020204020201" charset="-122"/>
              </a:rPr>
              <a:t>配置影响</a:t>
            </a:r>
            <a:endParaRPr lang="en-US" altLang="zh-CN" sz="1100" b="1">
              <a:solidFill>
                <a:srgbClr val="00854B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spcAft>
                <a:spcPts val="0"/>
              </a:spcAft>
            </a:pPr>
            <a:r>
              <a:rPr lang="zh-CN" altLang="zh-CN" sz="1100" b="1">
                <a:solidFill>
                  <a:srgbClr val="00854B"/>
                </a:solidFill>
                <a:latin typeface="微软雅黑" panose="020B0703020204020201" charset="-122"/>
                <a:ea typeface="微软雅黑" panose="020B0703020204020201" charset="-122"/>
              </a:rPr>
              <a:t>（演示）</a:t>
            </a:r>
            <a:endParaRPr lang="zh-CN" altLang="zh-CN" sz="1100" b="1">
              <a:solidFill>
                <a:srgbClr val="00854B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87680" y="3329940"/>
            <a:ext cx="7680325" cy="609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3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96900" y="3403600"/>
            <a:ext cx="2133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差旅报销</a:t>
            </a:r>
            <a:r>
              <a:rPr lang="en-US" altLang="zh-CN" sz="11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V12</a:t>
            </a:r>
            <a:endParaRPr lang="en-US" altLang="zh-CN" sz="115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  <a:p>
            <a:pPr>
              <a:spcAft>
                <a:spcPts val="0"/>
              </a:spcAft>
            </a:pPr>
            <a:r>
              <a:rPr lang="en-US" altLang="zh-CN" sz="11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N-TR-07 · </a:t>
            </a:r>
            <a:r>
              <a:rPr lang="zh-CN" altLang="en-US" sz="11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有效委托</a:t>
            </a:r>
            <a:endParaRPr lang="zh-CN" altLang="en-US" sz="115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819400" y="3403600"/>
            <a:ext cx="42037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已确认有效委托关系，</a:t>
            </a:r>
            <a:endParaRPr lang="en-US" altLang="zh-CN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spcAft>
                <a:spcPts val="0"/>
              </a:spcAft>
            </a:pPr>
            <a:r>
              <a:rPr lang="zh-CN" altLang="zh-CN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是否需要调整仍待核实。</a:t>
            </a:r>
            <a:endParaRPr lang="zh-CN" altLang="zh-CN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239000" y="3454400"/>
            <a:ext cx="889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00" b="1">
                <a:solidFill>
                  <a:srgbClr val="00854B"/>
                </a:solidFill>
                <a:latin typeface="微软雅黑" panose="020B0703020204020201" charset="-122"/>
                <a:ea typeface="微软雅黑" panose="020B0703020204020201" charset="-122"/>
              </a:rPr>
              <a:t>确认关联</a:t>
            </a:r>
            <a:endParaRPr lang="zh-CN" altLang="en-US" sz="1100" b="1">
              <a:solidFill>
                <a:srgbClr val="00854B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96900" y="4025900"/>
            <a:ext cx="2133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具体流程待定位</a:t>
            </a:r>
            <a:endParaRPr lang="en-US" altLang="zh-CN" sz="115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spcAft>
                <a:spcPts val="0"/>
              </a:spcAft>
            </a:pPr>
            <a:r>
              <a:rPr lang="zh-CN" altLang="zh-CN" sz="11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组织派生配置集合</a:t>
            </a:r>
            <a:endParaRPr lang="zh-CN" altLang="zh-CN" sz="115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819400" y="4025900"/>
            <a:ext cx="42037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缺少运行时岗位及组织路径信息，</a:t>
            </a:r>
            <a:endParaRPr lang="en-US" altLang="zh-CN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spcAft>
                <a:spcPts val="0"/>
              </a:spcAft>
            </a:pPr>
            <a:r>
              <a:rPr lang="zh-CN" altLang="zh-CN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暂无法定位具体流程。</a:t>
            </a:r>
            <a:endParaRPr lang="zh-CN" altLang="zh-CN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239000" y="4025900"/>
            <a:ext cx="889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00" b="1">
                <a:solidFill>
                  <a:srgbClr val="713EEA"/>
                </a:solidFill>
                <a:latin typeface="微软雅黑" panose="020B0703020204020201" charset="-122"/>
                <a:ea typeface="微软雅黑" panose="020B0703020204020201" charset="-122"/>
              </a:rPr>
              <a:t>暂无法</a:t>
            </a:r>
            <a:endParaRPr lang="en-US" altLang="zh-CN" sz="1100" b="1">
              <a:solidFill>
                <a:srgbClr val="713EE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spcAft>
                <a:spcPts val="0"/>
              </a:spcAft>
            </a:pPr>
            <a:r>
              <a:rPr lang="zh-CN" altLang="zh-CN" sz="1100" b="1">
                <a:solidFill>
                  <a:srgbClr val="713EEA"/>
                </a:solidFill>
                <a:latin typeface="微软雅黑" panose="020B0703020204020201" charset="-122"/>
                <a:ea typeface="微软雅黑" panose="020B0703020204020201" charset="-122"/>
              </a:rPr>
              <a:t>判断</a:t>
            </a:r>
            <a:endParaRPr lang="zh-CN" altLang="zh-CN" sz="1100" b="1">
              <a:solidFill>
                <a:srgbClr val="713EEA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499360" y="4815840"/>
            <a:ext cx="5668645" cy="435610"/>
          </a:xfrm>
          <a:prstGeom prst="rect">
            <a:avLst/>
          </a:prstGeom>
          <a:solidFill>
            <a:srgbClr val="FFFAEB"/>
          </a:solidFill>
          <a:ln w="6350">
            <a:solidFill>
              <a:srgbClr val="CCD3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2603500" y="4902200"/>
            <a:ext cx="54483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20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固定处理人配置仍引用离任人员，待确认职责承接人。</a:t>
            </a:r>
            <a:endParaRPr lang="zh-CN" altLang="en-US" sz="120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594725" y="2194560"/>
            <a:ext cx="3108960" cy="3629025"/>
          </a:xfrm>
          <a:prstGeom prst="rect">
            <a:avLst/>
          </a:prstGeom>
          <a:solidFill>
            <a:srgbClr val="FFFFFF"/>
          </a:solidFill>
          <a:ln w="6350">
            <a:solidFill>
              <a:srgbClr val="CCD3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8750300" y="23368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en-US" altLang="en-US" sz="150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IMP-01 · </a:t>
            </a:r>
            <a:r>
              <a:rPr lang="zh-CN" altLang="en-US" sz="150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判断依据</a:t>
            </a:r>
            <a:endParaRPr lang="zh-CN" altLang="en-US" sz="150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750300" y="27559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050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付款流程</a:t>
            </a:r>
            <a:r>
              <a:rPr lang="en-US" altLang="zh-CN" sz="1050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V18 / N-AP-04</a:t>
            </a:r>
            <a:endParaRPr lang="en-US" altLang="zh-CN" sz="1050">
              <a:solidFill>
                <a:srgbClr val="68736F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  <a:p>
            <a:pPr>
              <a:spcAft>
                <a:spcPts val="0"/>
              </a:spcAft>
            </a:pPr>
            <a:r>
              <a:rPr lang="zh-CN" altLang="zh-CN" sz="1050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当前修订</a:t>
            </a:r>
            <a:r>
              <a:rPr lang="en-US" altLang="zh-CN" sz="1050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R1 · </a:t>
            </a:r>
            <a:r>
              <a:rPr lang="zh-CN" altLang="en-US" sz="1050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数据时点</a:t>
            </a:r>
            <a:r>
              <a:rPr lang="en-US" altLang="zh-CN" sz="1050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T0</a:t>
            </a:r>
            <a:endParaRPr lang="en-US" altLang="zh-CN" sz="1050">
              <a:solidFill>
                <a:srgbClr val="68736F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750300" y="33147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20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固定处理人配置</a:t>
            </a:r>
            <a:endParaRPr lang="zh-CN" altLang="en-US" sz="120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750300" y="36322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en-US" altLang="en-US" sz="10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empIds </a:t>
            </a:r>
            <a:r>
              <a:rPr lang="zh-CN" altLang="en-US" sz="10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直接引用</a:t>
            </a:r>
            <a:r>
              <a:rPr lang="en-US" altLang="zh-CN" sz="10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PERS-002</a:t>
            </a:r>
            <a:r>
              <a:rPr lang="zh-CN" altLang="en-US" sz="10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。</a:t>
            </a:r>
            <a:endParaRPr lang="en-US" altLang="zh-CN" sz="10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  <a:p>
            <a:pPr>
              <a:spcAft>
                <a:spcPts val="0"/>
              </a:spcAft>
            </a:pPr>
            <a:r>
              <a:rPr lang="zh-CN" altLang="zh-CN" sz="10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该人员角色</a:t>
            </a:r>
            <a:r>
              <a:rPr lang="en-US" altLang="zh-CN" sz="10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ROLE-OLD </a:t>
            </a:r>
            <a:r>
              <a:rPr lang="zh-CN" altLang="en-US" sz="10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已退出。</a:t>
            </a:r>
            <a:endParaRPr lang="zh-CN" altLang="en-US" sz="10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750300" y="42037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20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影响确认条件</a:t>
            </a:r>
            <a:endParaRPr lang="zh-CN" altLang="en-US" sz="120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750300" y="45085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0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确认配置影响前，需核对该配置的适用范围与版本。</a:t>
            </a:r>
            <a:endParaRPr lang="zh-CN" altLang="en-US" sz="110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750300" y="50800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20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结果与证据版本一致</a:t>
            </a:r>
            <a:endParaRPr lang="zh-CN" altLang="en-US" sz="120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750300" y="53975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980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证据与结论关联：</a:t>
            </a:r>
            <a:r>
              <a:rPr lang="en-US" altLang="zh-CN" sz="980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EV-IMP-01 → IMP-01</a:t>
            </a:r>
            <a:endParaRPr lang="en-US" altLang="zh-CN" sz="980">
              <a:solidFill>
                <a:srgbClr val="68736F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  <a:p>
            <a:pPr>
              <a:spcAft>
                <a:spcPts val="0"/>
              </a:spcAft>
            </a:pPr>
            <a:r>
              <a:rPr lang="zh-CN" altLang="zh-CN" sz="980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结果与依据归属于当前修订。</a:t>
            </a:r>
            <a:endParaRPr lang="zh-CN" altLang="zh-CN" sz="980">
              <a:solidFill>
                <a:srgbClr val="68736F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/>
          <p:nvPr/>
        </p:nvSpPr>
        <p:spPr>
          <a:xfrm>
            <a:off x="396240" y="322516"/>
            <a:ext cx="4239292" cy="521970"/>
          </a:xfrm>
          <a:prstGeom prst="rect">
            <a:avLst/>
          </a:prstGeom>
          <a:noFill/>
          <a:ln>
            <a:noFill/>
          </a:ln>
        </p:spPr>
        <p:txBody>
          <a:bodyPr wrap="none" lIns="91440" tIns="45810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项目展示</a:t>
            </a:r>
            <a:endParaRPr lang="zh-CN" sz="280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365" y="418465"/>
            <a:ext cx="250825" cy="33083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476250" y="899160"/>
            <a:ext cx="110490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24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流程条件复核：定位条件重叠与覆盖缺口</a:t>
            </a:r>
            <a:endParaRPr lang="zh-CN" sz="2400" b="1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80060" y="1423670"/>
            <a:ext cx="111887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复核选定流程版本中可解析的条件区段，识别重叠与未覆盖情况，并整理边界验证用例。</a:t>
            </a:r>
            <a:endParaRPr lang="zh-CN" sz="1500" dirty="0">
              <a:solidFill>
                <a:srgbClr val="55677D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80060" y="1849120"/>
            <a:ext cx="731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演示数据：两个不同区段的复核发现</a:t>
            </a:r>
            <a:endParaRPr lang="zh-CN" sz="150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2" name="Rectangle 12"/>
          <p:cNvSpPr/>
          <p:nvPr/>
        </p:nvSpPr>
        <p:spPr>
          <a:xfrm>
            <a:off x="487680" y="2194560"/>
            <a:ext cx="7315200" cy="1569720"/>
          </a:xfrm>
          <a:prstGeom prst="rect">
            <a:avLst/>
          </a:prstGeom>
          <a:noFill/>
          <a:ln w="7620">
            <a:solidFill>
              <a:srgbClr val="BDCEE3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80060" y="3975100"/>
            <a:ext cx="7366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35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SEG-02</a:t>
            </a:r>
            <a:r>
              <a:rPr lang="zh-CN" altLang="en-US" sz="135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：金额等于</a:t>
            </a:r>
            <a:r>
              <a:rPr lang="en-US" altLang="zh-CN" sz="135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10,000 </a:t>
            </a:r>
            <a:r>
              <a:rPr lang="zh-CN" altLang="en-US" sz="135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元时，</a:t>
            </a:r>
            <a:r>
              <a:rPr lang="en-US" altLang="zh-CN" sz="135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A</a:t>
            </a:r>
            <a:r>
              <a:rPr lang="zh-CN" altLang="en-US" sz="135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、</a:t>
            </a:r>
            <a:r>
              <a:rPr lang="en-US" altLang="zh-CN" sz="135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B </a:t>
            </a:r>
            <a:r>
              <a:rPr lang="zh-CN" altLang="en-US" sz="135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条件同时成立。</a:t>
            </a:r>
            <a:endParaRPr lang="zh-CN" altLang="en-US" sz="1350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80060" y="4241800"/>
            <a:ext cx="7366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35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SEG-03</a:t>
            </a:r>
            <a:r>
              <a:rPr lang="zh-CN" altLang="en-US" sz="135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：金额等于</a:t>
            </a:r>
            <a:r>
              <a:rPr lang="en-US" altLang="zh-CN" sz="135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20,000 </a:t>
            </a:r>
            <a:r>
              <a:rPr lang="zh-CN" altLang="en-US" sz="135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元时无条件命中，且无默认分支。</a:t>
            </a:r>
            <a:endParaRPr lang="zh-CN" altLang="en-US" sz="1350" dirty="0">
              <a:solidFill>
                <a:srgbClr val="162E50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6" name="Line 16"/>
          <p:cNvSpPr/>
          <p:nvPr/>
        </p:nvSpPr>
        <p:spPr>
          <a:xfrm>
            <a:off x="487680" y="4511040"/>
            <a:ext cx="7315200" cy="9525"/>
          </a:xfrm>
          <a:custGeom>
            <a:avLst/>
            <a:gdLst/>
            <a:ahLst/>
            <a:cxnLst/>
            <a:rect l="l" t="t" r="r" b="b"/>
            <a:pathLst>
              <a:path w="7315200" h="9525">
                <a:moveTo>
                  <a:pt x="0" y="0"/>
                </a:moveTo>
                <a:lnTo>
                  <a:pt x="7315200" y="0"/>
                </a:lnTo>
              </a:path>
            </a:pathLst>
          </a:custGeom>
          <a:noFill/>
          <a:ln w="15240">
            <a:solidFill>
              <a:srgbClr val="1760F6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80060" y="45466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42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条件重叠项的边界验证用例</a:t>
            </a:r>
            <a:endParaRPr lang="zh-CN" sz="142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985000" y="4546600"/>
            <a:ext cx="889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待执行</a:t>
            </a:r>
            <a:endParaRPr lang="zh-CN" sz="135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20" name="Rectangle 20"/>
          <p:cNvSpPr/>
          <p:nvPr/>
        </p:nvSpPr>
        <p:spPr>
          <a:xfrm>
            <a:off x="487680" y="4754880"/>
            <a:ext cx="7315200" cy="1097280"/>
          </a:xfrm>
          <a:prstGeom prst="rect">
            <a:avLst/>
          </a:prstGeom>
          <a:noFill/>
          <a:ln w="7620">
            <a:solidFill>
              <a:srgbClr val="BDCEE3"/>
            </a:solidFill>
          </a:ln>
        </p:spPr>
      </p:sp>
      <p:sp>
        <p:nvSpPr>
          <p:cNvPr id="22" name="Line 22"/>
          <p:cNvSpPr/>
          <p:nvPr/>
        </p:nvSpPr>
        <p:spPr>
          <a:xfrm>
            <a:off x="8046720" y="1828800"/>
            <a:ext cx="9525" cy="4023360"/>
          </a:xfrm>
          <a:custGeom>
            <a:avLst/>
            <a:gdLst/>
            <a:ahLst/>
            <a:cxnLst/>
            <a:rect l="l" t="t" r="r" b="b"/>
            <a:pathLst>
              <a:path w="9525" h="4023360">
                <a:moveTo>
                  <a:pt x="0" y="0"/>
                </a:moveTo>
                <a:lnTo>
                  <a:pt x="0" y="4023360"/>
                </a:lnTo>
              </a:path>
            </a:pathLst>
          </a:custGeom>
          <a:noFill/>
          <a:ln w="7620">
            <a:solidFill>
              <a:srgbClr val="BDCEE3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223250" y="1865630"/>
            <a:ext cx="33655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条件重叠的判断依据</a:t>
            </a:r>
            <a:endParaRPr lang="zh-CN" sz="135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25" name="Rectangle 25"/>
          <p:cNvSpPr/>
          <p:nvPr/>
        </p:nvSpPr>
        <p:spPr>
          <a:xfrm>
            <a:off x="8229600" y="2194560"/>
            <a:ext cx="3291840" cy="3375660"/>
          </a:xfrm>
          <a:prstGeom prst="rect">
            <a:avLst/>
          </a:prstGeom>
          <a:noFill/>
          <a:ln w="7620">
            <a:solidFill>
              <a:srgbClr val="BDCEE3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223250" y="5626100"/>
            <a:ext cx="34544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以上为规则分析结果，尚未运行验证；</a:t>
            </a:r>
            <a:endParaRPr lang="en-US" altLang="zh-CN" sz="1050" dirty="0">
              <a:solidFill>
                <a:srgbClr val="55677D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  <a:p>
            <a:pPr algn="l"/>
            <a:r>
              <a:rPr lang="zh-CN" altLang="zh-CN" sz="105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实际审批路径及业务合理性仍需确认。</a:t>
            </a:r>
            <a:endParaRPr lang="zh-CN" altLang="zh-CN" sz="1050" dirty="0">
              <a:solidFill>
                <a:srgbClr val="55677D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150600" y="5929630"/>
            <a:ext cx="66929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11 / 15   </a:t>
            </a:r>
            <a:endParaRPr lang="en-US" sz="980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2125" y="2194560"/>
            <a:ext cx="7306310" cy="1569720"/>
          </a:xfrm>
          <a:prstGeom prst="rect">
            <a:avLst/>
          </a:prstGeom>
          <a:solidFill>
            <a:srgbClr val="F5F6F2"/>
          </a:solidFill>
          <a:ln w="6350">
            <a:solidFill>
              <a:srgbClr val="CCD3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9600" y="2286000"/>
            <a:ext cx="1422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00" b="1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编号</a:t>
            </a:r>
            <a:r>
              <a:rPr lang="en-US" altLang="zh-CN" sz="1100" b="1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/ </a:t>
            </a:r>
            <a:r>
              <a:rPr lang="zh-CN" altLang="en-US" sz="1100" b="1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区段</a:t>
            </a:r>
            <a:endParaRPr lang="zh-CN" altLang="en-US" sz="1100" b="1">
              <a:solidFill>
                <a:srgbClr val="68736F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84400" y="2286000"/>
            <a:ext cx="1498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00" b="1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</a:rPr>
              <a:t>类型</a:t>
            </a:r>
            <a:endParaRPr lang="zh-CN" altLang="en-US" sz="1100" b="1">
              <a:solidFill>
                <a:srgbClr val="68736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73500" y="22860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00" b="1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</a:rPr>
              <a:t>主要发现与待确认内容</a:t>
            </a:r>
            <a:endParaRPr lang="zh-CN" altLang="en-US" sz="1100" b="1">
              <a:solidFill>
                <a:srgbClr val="68736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9600" y="2628900"/>
            <a:ext cx="1422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en-US" altLang="en-US" sz="120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RISK-01</a:t>
            </a:r>
            <a:endParaRPr lang="en-US" altLang="en-US" sz="120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spcAft>
                <a:spcPts val="0"/>
              </a:spcAft>
            </a:pPr>
            <a:r>
              <a:rPr lang="en-US" altLang="en-US" sz="120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SEG-02</a:t>
            </a:r>
            <a:endParaRPr lang="en-US" altLang="en-US" sz="120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184400" y="2667000"/>
            <a:ext cx="152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200" b="1">
                <a:solidFill>
                  <a:srgbClr val="BF2330"/>
                </a:solidFill>
                <a:latin typeface="微软雅黑" panose="020B0703020204020201" charset="-122"/>
                <a:ea typeface="微软雅黑" panose="020B0703020204020201" charset="-122"/>
              </a:rPr>
              <a:t>条件重叠</a:t>
            </a:r>
            <a:endParaRPr lang="zh-CN" altLang="en-US" sz="1200" b="1">
              <a:solidFill>
                <a:srgbClr val="BF2330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873500" y="2590800"/>
            <a:ext cx="3835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en-US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10,000 </a:t>
            </a: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元同时满足</a:t>
            </a:r>
            <a:r>
              <a:rPr lang="en-US" altLang="zh-CN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A</a:t>
            </a: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、</a:t>
            </a:r>
            <a:r>
              <a:rPr lang="en-US" altLang="zh-CN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B </a:t>
            </a: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条件。</a:t>
            </a:r>
            <a:endParaRPr lang="en-US" altLang="zh-CN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  <a:p>
            <a:pPr>
              <a:spcAft>
                <a:spcPts val="0"/>
              </a:spcAft>
            </a:pPr>
            <a:r>
              <a:rPr lang="zh-CN" altLang="zh-CN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示例按顺序预计选</a:t>
            </a:r>
            <a:r>
              <a:rPr lang="en-US" altLang="zh-CN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A</a:t>
            </a: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，业务预期待确认。</a:t>
            </a:r>
            <a:endParaRPr lang="zh-CN" altLang="en-US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09600" y="3238500"/>
            <a:ext cx="1422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en-US" altLang="en-US" sz="120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RISK-02</a:t>
            </a:r>
            <a:endParaRPr lang="en-US" altLang="en-US" sz="120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spcAft>
                <a:spcPts val="0"/>
              </a:spcAft>
            </a:pPr>
            <a:r>
              <a:rPr lang="en-US" altLang="en-US" sz="120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SEG-03</a:t>
            </a:r>
            <a:endParaRPr lang="en-US" altLang="en-US" sz="120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184400" y="32766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200" b="1">
                <a:solidFill>
                  <a:srgbClr val="BF2330"/>
                </a:solidFill>
                <a:latin typeface="微软雅黑" panose="020B0703020204020201" charset="-122"/>
                <a:ea typeface="微软雅黑" panose="020B0703020204020201" charset="-122"/>
              </a:rPr>
              <a:t>条件覆盖缺口</a:t>
            </a:r>
            <a:endParaRPr lang="zh-CN" altLang="en-US" sz="1200" b="1">
              <a:solidFill>
                <a:srgbClr val="BF2330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873500" y="3213100"/>
            <a:ext cx="3835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en-US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20,000 </a:t>
            </a: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元无条件命中，且无默认分支。</a:t>
            </a:r>
            <a:endParaRPr lang="en-US" altLang="zh-CN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  <a:p>
            <a:pPr>
              <a:spcAft>
                <a:spcPts val="0"/>
              </a:spcAft>
            </a:pPr>
            <a:r>
              <a:rPr lang="zh-CN" altLang="zh-CN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应进入哪个审批分支，需业务确认。</a:t>
            </a:r>
            <a:endParaRPr lang="zh-CN" altLang="zh-CN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87680" y="4754245"/>
            <a:ext cx="7315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3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487680" y="4754245"/>
            <a:ext cx="7315200" cy="279400"/>
          </a:xfrm>
          <a:prstGeom prst="rect">
            <a:avLst/>
          </a:prstGeom>
          <a:solidFill>
            <a:srgbClr val="EFF2ED"/>
          </a:solidFill>
          <a:ln w="6350">
            <a:solidFill>
              <a:srgbClr val="CCD3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09600" y="4787900"/>
            <a:ext cx="1676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00" b="1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</a:rPr>
              <a:t>输入金额</a:t>
            </a:r>
            <a:endParaRPr lang="zh-CN" altLang="en-US" sz="1100" b="1">
              <a:solidFill>
                <a:srgbClr val="68736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311400" y="4787900"/>
            <a:ext cx="127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00" b="1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</a:rPr>
              <a:t>区段</a:t>
            </a:r>
            <a:endParaRPr lang="zh-CN" altLang="en-US" sz="1100" b="1">
              <a:solidFill>
                <a:srgbClr val="68736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657600" y="4787900"/>
            <a:ext cx="40513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00" b="1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</a:rPr>
              <a:t>预期结果（本示例按顺序匹配）</a:t>
            </a:r>
            <a:endParaRPr lang="zh-CN" altLang="en-US" sz="1100" b="1">
              <a:solidFill>
                <a:srgbClr val="68736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09600" y="5080000"/>
            <a:ext cx="16891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en-US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9,999.99 </a:t>
            </a: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元</a:t>
            </a:r>
            <a:endParaRPr lang="zh-CN" altLang="en-US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311400" y="5080000"/>
            <a:ext cx="127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en-US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SEG-02</a:t>
            </a:r>
            <a:endParaRPr lang="en-US" altLang="en-US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57600" y="5080000"/>
            <a:ext cx="406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仅</a:t>
            </a:r>
            <a:r>
              <a:rPr lang="en-US" altLang="zh-CN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A </a:t>
            </a: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条件成立</a:t>
            </a:r>
            <a:endParaRPr lang="zh-CN" altLang="en-US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09600" y="5334000"/>
            <a:ext cx="16891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en-US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10,000.00 </a:t>
            </a: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元</a:t>
            </a:r>
            <a:endParaRPr lang="zh-CN" altLang="en-US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311400" y="5334000"/>
            <a:ext cx="127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en-US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SEG-02</a:t>
            </a:r>
            <a:endParaRPr lang="en-US" altLang="en-US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657600" y="5334000"/>
            <a:ext cx="406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en-US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A</a:t>
            </a: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、</a:t>
            </a:r>
            <a:r>
              <a:rPr lang="en-US" altLang="zh-CN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B </a:t>
            </a: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均成立，预计选择</a:t>
            </a:r>
            <a:r>
              <a:rPr lang="en-US" altLang="zh-CN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A</a:t>
            </a:r>
            <a:endParaRPr lang="en-US" altLang="zh-CN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09600" y="5588000"/>
            <a:ext cx="16891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en-US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10,000.01 </a:t>
            </a: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元</a:t>
            </a:r>
            <a:endParaRPr lang="zh-CN" altLang="en-US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311400" y="5588000"/>
            <a:ext cx="127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en-US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</a:rPr>
              <a:t>SEG-02</a:t>
            </a:r>
            <a:endParaRPr lang="en-US" altLang="en-US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657600" y="5588000"/>
            <a:ext cx="406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仅</a:t>
            </a:r>
            <a:r>
              <a:rPr lang="en-US" altLang="zh-CN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B </a:t>
            </a: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条件成立</a:t>
            </a:r>
            <a:endParaRPr lang="zh-CN" altLang="en-US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229600" y="2194560"/>
            <a:ext cx="3291840" cy="3375025"/>
          </a:xfrm>
          <a:prstGeom prst="rect">
            <a:avLst/>
          </a:prstGeom>
          <a:solidFill>
            <a:srgbClr val="FFFFFF"/>
          </a:solidFill>
          <a:ln w="6350">
            <a:solidFill>
              <a:srgbClr val="CCD3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8382000" y="2336800"/>
            <a:ext cx="2971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00" b="1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</a:rPr>
              <a:t>配置位置</a:t>
            </a:r>
            <a:endParaRPr lang="zh-CN" altLang="en-US" sz="1100" b="1">
              <a:solidFill>
                <a:srgbClr val="68736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382000" y="2603500"/>
            <a:ext cx="2971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2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费用审批</a:t>
            </a:r>
            <a:r>
              <a:rPr lang="en-US" altLang="zh-CN" sz="12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· </a:t>
            </a:r>
            <a:r>
              <a:rPr lang="zh-CN" altLang="en-US" sz="12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演示</a:t>
            </a:r>
            <a:r>
              <a:rPr lang="en-US" altLang="zh-CN" sz="12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V1 / SEG-02</a:t>
            </a:r>
            <a:endParaRPr lang="en-US" altLang="zh-CN" sz="125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382000" y="2933700"/>
            <a:ext cx="2971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路径</a:t>
            </a:r>
            <a:r>
              <a:rPr lang="en-US" altLang="zh-CN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S2-A</a:t>
            </a:r>
            <a:r>
              <a:rPr lang="zh-CN" altLang="en-US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、</a:t>
            </a:r>
            <a:r>
              <a:rPr lang="en-US" altLang="zh-CN" sz="11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S2-B</a:t>
            </a:r>
            <a:endParaRPr lang="en-US" altLang="zh-CN" sz="11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382000" y="3352800"/>
            <a:ext cx="2971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00" b="1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</a:rPr>
              <a:t>原始条件</a:t>
            </a:r>
            <a:endParaRPr lang="zh-CN" altLang="en-US" sz="1100" b="1">
              <a:solidFill>
                <a:srgbClr val="68736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382000" y="3632200"/>
            <a:ext cx="2971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en-US" altLang="en-US" sz="12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A</a:t>
            </a:r>
            <a:r>
              <a:rPr lang="zh-CN" altLang="en-US" sz="12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：金额</a:t>
            </a:r>
            <a:r>
              <a:rPr lang="en-US" altLang="zh-CN" sz="12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≤ 10,000 </a:t>
            </a:r>
            <a:r>
              <a:rPr lang="zh-CN" altLang="en-US" sz="12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元</a:t>
            </a:r>
            <a:endParaRPr lang="en-US" altLang="zh-CN" sz="125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  <a:p>
            <a:pPr>
              <a:spcAft>
                <a:spcPts val="0"/>
              </a:spcAft>
            </a:pPr>
            <a:r>
              <a:rPr lang="en-US" altLang="zh-CN" sz="12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B</a:t>
            </a:r>
            <a:r>
              <a:rPr lang="zh-CN" altLang="en-US" sz="12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：金额</a:t>
            </a:r>
            <a:r>
              <a:rPr lang="en-US" altLang="zh-CN" sz="12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≥ 10,000 </a:t>
            </a:r>
            <a:r>
              <a:rPr lang="zh-CN" altLang="en-US" sz="12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元</a:t>
            </a:r>
            <a:endParaRPr lang="zh-CN" altLang="en-US" sz="125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382000" y="4267200"/>
            <a:ext cx="2971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00" b="1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</a:rPr>
              <a:t>触发重叠的示例金额</a:t>
            </a:r>
            <a:endParaRPr lang="zh-CN" altLang="en-US" sz="1100" b="1">
              <a:solidFill>
                <a:srgbClr val="68736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382000" y="4546600"/>
            <a:ext cx="2971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en-US" altLang="en-US" sz="11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10,000 </a:t>
            </a:r>
            <a:r>
              <a:rPr lang="zh-CN" altLang="en-US" sz="11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元：</a:t>
            </a:r>
            <a:r>
              <a:rPr lang="en-US" altLang="zh-CN" sz="11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A</a:t>
            </a:r>
            <a:r>
              <a:rPr lang="zh-CN" altLang="en-US" sz="11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、</a:t>
            </a:r>
            <a:r>
              <a:rPr lang="en-US" altLang="zh-CN" sz="11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B </a:t>
            </a:r>
            <a:r>
              <a:rPr lang="zh-CN" altLang="en-US" sz="1150" b="1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条件同时成立</a:t>
            </a:r>
            <a:endParaRPr lang="zh-CN" altLang="en-US" sz="1150" b="1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382000" y="4965700"/>
            <a:ext cx="2971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100" b="1">
                <a:solidFill>
                  <a:srgbClr val="68736F"/>
                </a:solidFill>
                <a:latin typeface="微软雅黑" panose="020B0703020204020201" charset="-122"/>
                <a:ea typeface="微软雅黑" panose="020B0703020204020201" charset="-122"/>
              </a:rPr>
              <a:t>分析范围与示例设定</a:t>
            </a:r>
            <a:endParaRPr lang="zh-CN" altLang="en-US" sz="1100" b="1">
              <a:solidFill>
                <a:srgbClr val="68736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382000" y="5232400"/>
            <a:ext cx="2971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spcAft>
                <a:spcPts val="0"/>
              </a:spcAft>
            </a:pPr>
            <a:r>
              <a:rPr lang="zh-CN" altLang="en-US" sz="10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金额</a:t>
            </a:r>
            <a:r>
              <a:rPr lang="en-US" altLang="zh-CN" sz="10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0</a:t>
            </a:r>
            <a:r>
              <a:rPr lang="zh-CN" altLang="en-US" sz="10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～</a:t>
            </a:r>
            <a:r>
              <a:rPr lang="en-US" altLang="zh-CN" sz="10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50,000 </a:t>
            </a:r>
            <a:r>
              <a:rPr lang="zh-CN" altLang="en-US" sz="10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元，精度</a:t>
            </a:r>
            <a:r>
              <a:rPr lang="en-US" altLang="zh-CN" sz="10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0.01 </a:t>
            </a:r>
            <a:r>
              <a:rPr lang="zh-CN" altLang="en-US" sz="10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元。</a:t>
            </a:r>
            <a:endParaRPr lang="en-US" altLang="zh-CN" sz="10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  <a:p>
            <a:pPr>
              <a:spcAft>
                <a:spcPts val="0"/>
              </a:spcAft>
            </a:pPr>
            <a:r>
              <a:rPr lang="zh-CN" altLang="zh-CN" sz="10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本示例按顺序匹配，预计选择</a:t>
            </a:r>
            <a:r>
              <a:rPr lang="en-US" altLang="zh-CN" sz="10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 A</a:t>
            </a:r>
            <a:r>
              <a:rPr lang="zh-CN" altLang="en-US" sz="1050">
                <a:solidFill>
                  <a:srgbClr val="182334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。</a:t>
            </a:r>
            <a:endParaRPr lang="zh-CN" altLang="en-US" sz="1050">
              <a:solidFill>
                <a:srgbClr val="182334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/>
          <p:nvPr/>
        </p:nvSpPr>
        <p:spPr>
          <a:xfrm>
            <a:off x="396240" y="322516"/>
            <a:ext cx="4239292" cy="521970"/>
          </a:xfrm>
          <a:prstGeom prst="rect">
            <a:avLst/>
          </a:prstGeom>
          <a:noFill/>
          <a:ln>
            <a:noFill/>
          </a:ln>
        </p:spPr>
        <p:txBody>
          <a:bodyPr wrap="none" lIns="91440" tIns="45810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项目成效</a:t>
            </a:r>
            <a:endParaRPr lang="zh-CN" sz="280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6301" y="418433"/>
            <a:ext cx="250794" cy="330803"/>
            <a:chOff x="126301" y="418433"/>
            <a:chExt cx="250794" cy="330803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6301" y="418433"/>
              <a:ext cx="250793" cy="330803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475488" y="899160"/>
            <a:ext cx="7045894" cy="469392"/>
            <a:chOff x="475488" y="899160"/>
            <a:chExt cx="7045894" cy="469392"/>
          </a:xfrm>
        </p:grpSpPr>
        <p:sp>
          <p:nvSpPr>
            <p:cNvPr id="7" name="TextBox 7"/>
            <p:cNvSpPr txBox="1"/>
            <p:nvPr/>
          </p:nvSpPr>
          <p:spPr>
            <a:xfrm>
              <a:off x="475488" y="899160"/>
              <a:ext cx="70458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减少重复查找，让复核和交接延续已有判断。   </a:t>
              </a:r>
              <a:endParaRPr lang="zh-CN" sz="24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80974" y="1259586"/>
            <a:ext cx="7687666" cy="2583576"/>
            <a:chOff x="480974" y="1259586"/>
            <a:chExt cx="7687666" cy="2583576"/>
          </a:xfrm>
        </p:grpSpPr>
        <p:sp>
          <p:nvSpPr>
            <p:cNvPr id="9" name="TextBox 9"/>
            <p:cNvSpPr txBox="1"/>
            <p:nvPr/>
          </p:nvSpPr>
          <p:spPr>
            <a:xfrm>
              <a:off x="480974" y="1259586"/>
              <a:ext cx="2110252" cy="2581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20" dirty="0">
                  <a:solidFill>
                    <a:srgbClr val="65758A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高保真演示 · 演示数据   </a:t>
              </a:r>
              <a:endParaRPr lang="zh-CN" sz="1320" dirty="0">
                <a:solidFill>
                  <a:srgbClr val="65758A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7680" y="1584960"/>
              <a:ext cx="7680960" cy="2258202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487680" y="1584960"/>
              <a:ext cx="7680960" cy="2258202"/>
            </a:xfrm>
            <a:prstGeom prst="rect">
              <a:avLst/>
            </a:prstGeom>
            <a:noFill/>
            <a:ln w="7620">
              <a:solidFill>
                <a:srgbClr val="BDCEE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9852" y="2406821"/>
              <a:ext cx="7496617" cy="675925"/>
            </a:xfrm>
            <a:prstGeom prst="rect">
              <a:avLst/>
            </a:prstGeom>
            <a:noFill/>
            <a:ln w="15240">
              <a:solidFill>
                <a:srgbClr val="1760F6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79450" y="3962400"/>
            <a:ext cx="7689190" cy="854746"/>
            <a:chOff x="479450" y="3962400"/>
            <a:chExt cx="7689190" cy="854746"/>
          </a:xfrm>
        </p:grpSpPr>
        <p:sp>
          <p:nvSpPr>
            <p:cNvPr id="14" name="Line 14"/>
            <p:cNvSpPr/>
            <p:nvPr/>
          </p:nvSpPr>
          <p:spPr>
            <a:xfrm>
              <a:off x="487680" y="3962400"/>
              <a:ext cx="7680960" cy="9525"/>
            </a:xfrm>
            <a:custGeom>
              <a:avLst/>
              <a:gdLst/>
              <a:ahLst/>
              <a:cxnLst/>
              <a:rect l="l" t="t" r="r" b="b"/>
              <a:pathLst>
                <a:path w="7680960" h="9525">
                  <a:moveTo>
                    <a:pt x="0" y="0"/>
                  </a:moveTo>
                  <a:lnTo>
                    <a:pt x="768096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9450" y="4122801"/>
              <a:ext cx="1702797" cy="316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20" b="1" dirty="0">
                  <a:solidFill>
                    <a:srgbClr val="003FA9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事项局部放大   </a:t>
              </a:r>
              <a:endParaRPr lang="zh-CN" sz="1620" b="1" dirty="0">
                <a:solidFill>
                  <a:srgbClr val="003FA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0670" y="4423029"/>
              <a:ext cx="1620980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决定回到原成果   </a:t>
              </a:r>
              <a:endParaRPr lang="zh-CN" sz="138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9360" y="4084320"/>
              <a:ext cx="5181600" cy="732826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2499360" y="4084320"/>
              <a:ext cx="5181600" cy="732826"/>
            </a:xfrm>
            <a:prstGeom prst="rect">
              <a:avLst/>
            </a:prstGeom>
            <a:noFill/>
            <a:ln w="7620">
              <a:solidFill>
                <a:srgbClr val="BDCEE3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79146" y="4937760"/>
            <a:ext cx="7689494" cy="827227"/>
            <a:chOff x="479146" y="4937760"/>
            <a:chExt cx="7689494" cy="827227"/>
          </a:xfrm>
        </p:grpSpPr>
        <p:sp>
          <p:nvSpPr>
            <p:cNvPr id="20" name="Line 20"/>
            <p:cNvSpPr/>
            <p:nvPr/>
          </p:nvSpPr>
          <p:spPr>
            <a:xfrm>
              <a:off x="487680" y="4937760"/>
              <a:ext cx="7680960" cy="9525"/>
            </a:xfrm>
            <a:custGeom>
              <a:avLst/>
              <a:gdLst/>
              <a:ahLst/>
              <a:cxnLst/>
              <a:rect l="l" t="t" r="r" b="b"/>
              <a:pathLst>
                <a:path w="7680960" h="9525">
                  <a:moveTo>
                    <a:pt x="0" y="0"/>
                  </a:moveTo>
                  <a:lnTo>
                    <a:pt x="768096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9146" y="5000244"/>
              <a:ext cx="1765863" cy="3285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80" b="1" dirty="0">
                  <a:solidFill>
                    <a:srgbClr val="003FA9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减少重复查找   </a:t>
              </a:r>
              <a:endParaRPr lang="zh-CN" sz="1680" b="1" dirty="0">
                <a:solidFill>
                  <a:srgbClr val="003FA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0365" y="5269992"/>
              <a:ext cx="2273016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成果与依据集中，减少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0365" y="5483352"/>
              <a:ext cx="2273016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重新寻找和手工拼接。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41546" y="5000244"/>
              <a:ext cx="1992025" cy="3285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80" b="1" dirty="0">
                  <a:solidFill>
                    <a:srgbClr val="003FA9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保留判断上下文   </a:t>
              </a:r>
              <a:endParaRPr lang="zh-CN" sz="1680" b="1" dirty="0">
                <a:solidFill>
                  <a:srgbClr val="003FA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2765" y="5269992"/>
              <a:ext cx="2660721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事项、原结论与修订关联，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2765" y="5483352"/>
              <a:ext cx="2466868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复核交接延续已有工作。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412480" y="1828800"/>
            <a:ext cx="3291840" cy="3021787"/>
            <a:chOff x="8412480" y="1828800"/>
            <a:chExt cx="3291840" cy="3021787"/>
          </a:xfrm>
        </p:grpSpPr>
        <p:sp>
          <p:nvSpPr>
            <p:cNvPr id="28" name="Rectangle 28"/>
            <p:cNvSpPr/>
            <p:nvPr/>
          </p:nvSpPr>
          <p:spPr>
            <a:xfrm>
              <a:off x="8412480" y="1828800"/>
              <a:ext cx="3291840" cy="487680"/>
            </a:xfrm>
            <a:prstGeom prst="rect">
              <a:avLst/>
            </a:prstGeom>
            <a:solidFill>
              <a:srgbClr val="003FA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86826" y="1952244"/>
              <a:ext cx="2444348" cy="3285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80" b="1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按工作变化继续处理   </a:t>
              </a:r>
              <a:endParaRPr lang="zh-CN" sz="1680" b="1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8595360" y="2499360"/>
              <a:ext cx="9525" cy="2225040"/>
            </a:xfrm>
            <a:custGeom>
              <a:avLst/>
              <a:gdLst/>
              <a:ahLst/>
              <a:cxnLst/>
              <a:rect l="l" t="t" r="r" b="b"/>
              <a:pathLst>
                <a:path w="9525" h="2225040">
                  <a:moveTo>
                    <a:pt x="0" y="0"/>
                  </a:moveTo>
                  <a:lnTo>
                    <a:pt x="0" y="222504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8595360" y="2682240"/>
              <a:ext cx="182880" cy="9525"/>
            </a:xfrm>
            <a:custGeom>
              <a:avLst/>
              <a:gdLst/>
              <a:ahLst/>
              <a:cxnLst/>
              <a:rect l="l" t="t" r="r" b="b"/>
              <a:pathLst>
                <a:path w="182880" h="9525">
                  <a:moveTo>
                    <a:pt x="0" y="0"/>
                  </a:moveTo>
                  <a:lnTo>
                    <a:pt x="18288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891321" y="2494407"/>
              <a:ext cx="1828930" cy="3403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40" b="1" dirty="0">
                  <a:solidFill>
                    <a:srgbClr val="003FA9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继续当前任务   </a:t>
              </a:r>
              <a:endParaRPr lang="zh-CN" sz="1740" b="1" dirty="0">
                <a:solidFill>
                  <a:srgbClr val="003FA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92845" y="2862072"/>
              <a:ext cx="1720535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普通复核 / 补证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8595360" y="3535680"/>
              <a:ext cx="182880" cy="9525"/>
            </a:xfrm>
            <a:custGeom>
              <a:avLst/>
              <a:gdLst/>
              <a:ahLst/>
              <a:cxnLst/>
              <a:rect l="l" t="t" r="r" b="b"/>
              <a:pathLst>
                <a:path w="182880" h="9525">
                  <a:moveTo>
                    <a:pt x="0" y="0"/>
                  </a:moveTo>
                  <a:lnTo>
                    <a:pt x="18288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91321" y="3347847"/>
              <a:ext cx="1828930" cy="3403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40" b="1" dirty="0">
                  <a:solidFill>
                    <a:srgbClr val="003FA9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形成正式修订   </a:t>
              </a:r>
              <a:endParaRPr lang="zh-CN" sz="1740" b="1" dirty="0">
                <a:solidFill>
                  <a:srgbClr val="003FA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92845" y="3715512"/>
              <a:ext cx="2495946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正式范围 / 关键输入变化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7" name="Line 37"/>
            <p:cNvSpPr/>
            <p:nvPr/>
          </p:nvSpPr>
          <p:spPr>
            <a:xfrm>
              <a:off x="8595360" y="4389120"/>
              <a:ext cx="182880" cy="9525"/>
            </a:xfrm>
            <a:custGeom>
              <a:avLst/>
              <a:gdLst/>
              <a:ahLst/>
              <a:cxnLst/>
              <a:rect l="l" t="t" r="r" b="b"/>
              <a:pathLst>
                <a:path w="182880" h="9525">
                  <a:moveTo>
                    <a:pt x="0" y="0"/>
                  </a:moveTo>
                  <a:lnTo>
                    <a:pt x="18288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91321" y="4201287"/>
              <a:ext cx="1828930" cy="3403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40" b="1" dirty="0">
                  <a:solidFill>
                    <a:srgbClr val="003FA9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创建派生工作   </a:t>
              </a:r>
              <a:endParaRPr lang="zh-CN" sz="1740" b="1" dirty="0">
                <a:solidFill>
                  <a:srgbClr val="003FA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92845" y="4568952"/>
              <a:ext cx="2108241" cy="2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独立目标 / 生命周期   </a:t>
              </a:r>
              <a:endParaRPr lang="zh-CN" sz="144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588654" y="4917186"/>
            <a:ext cx="3104973" cy="979170"/>
            <a:chOff x="8588654" y="4917186"/>
            <a:chExt cx="3104973" cy="979170"/>
          </a:xfrm>
        </p:grpSpPr>
        <p:sp>
          <p:nvSpPr>
            <p:cNvPr id="41" name="TextBox 41"/>
            <p:cNvSpPr txBox="1"/>
            <p:nvPr/>
          </p:nvSpPr>
          <p:spPr>
            <a:xfrm>
              <a:off x="8588654" y="4917186"/>
              <a:ext cx="1017407" cy="2581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20" dirty="0">
                  <a:solidFill>
                    <a:srgbClr val="65758A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后续观察   </a:t>
              </a:r>
              <a:endParaRPr lang="zh-CN" sz="1320" dirty="0">
                <a:solidFill>
                  <a:srgbClr val="65758A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88959" y="5167503"/>
              <a:ext cx="3104668" cy="246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60" dirty="0">
                  <a:solidFill>
                    <a:srgbClr val="65758A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分析时长 · Evidence覆盖 / 新增遗漏   </a:t>
              </a:r>
              <a:endParaRPr lang="zh-CN" sz="1260" dirty="0">
                <a:solidFill>
                  <a:srgbClr val="65758A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88959" y="5380863"/>
              <a:ext cx="2351654" cy="246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60" dirty="0">
                  <a:solidFill>
                    <a:srgbClr val="65758A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验证准备 / UNKNOWN处理   </a:t>
              </a:r>
              <a:endParaRPr lang="zh-CN" sz="1260" dirty="0">
                <a:solidFill>
                  <a:srgbClr val="65758A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89264" y="5661660"/>
              <a:ext cx="1894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5758A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待建立人工基线与实测   </a:t>
              </a:r>
              <a:endParaRPr lang="zh-CN" sz="1200" dirty="0">
                <a:solidFill>
                  <a:srgbClr val="65758A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150727" y="5929789"/>
            <a:ext cx="669544" cy="190690"/>
            <a:chOff x="11150727" y="5929789"/>
            <a:chExt cx="669544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11150727" y="592978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13 / 15   </a:t>
              </a:r>
              <a:endParaRPr lang="en-US" sz="980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/>
          <p:nvPr/>
        </p:nvSpPr>
        <p:spPr>
          <a:xfrm>
            <a:off x="396240" y="322516"/>
            <a:ext cx="4880610" cy="521970"/>
          </a:xfrm>
          <a:prstGeom prst="rect">
            <a:avLst/>
          </a:prstGeom>
          <a:noFill/>
          <a:ln>
            <a:noFill/>
          </a:ln>
        </p:spPr>
        <p:txBody>
          <a:bodyPr wrap="none" lIns="91440" tIns="45810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其他材料</a:t>
            </a:r>
            <a:endParaRPr lang="zh-CN" sz="2800" b="1" dirty="0">
              <a:solidFill>
                <a:srgbClr val="1760F6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6301" y="418433"/>
            <a:ext cx="250794" cy="330803"/>
            <a:chOff x="126301" y="418433"/>
            <a:chExt cx="250794" cy="330803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6301" y="418433"/>
              <a:ext cx="250793" cy="330803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475488" y="899160"/>
            <a:ext cx="11055286" cy="817245"/>
            <a:chOff x="475488" y="899160"/>
            <a:chExt cx="11055286" cy="817245"/>
          </a:xfrm>
        </p:grpSpPr>
        <p:sp>
          <p:nvSpPr>
            <p:cNvPr id="7" name="TextBox 7"/>
            <p:cNvSpPr txBox="1"/>
            <p:nvPr/>
          </p:nvSpPr>
          <p:spPr>
            <a:xfrm>
              <a:off x="475488" y="899160"/>
              <a:ext cx="70458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共性能力稳定复用，专业工作按业务域适配。   </a:t>
              </a:r>
              <a:endParaRPr lang="zh-CN" sz="24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0060" y="1423035"/>
              <a:ext cx="11050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进入另一业务域，仍围绕目标组织调查、专业分析和可复核成果；变化的是对象、可采用的依据、专业规则和交付要求。   </a:t>
              </a:r>
              <a:endParaRPr lang="zh-CN" sz="150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8536" y="1828800"/>
            <a:ext cx="7324344" cy="1716405"/>
            <a:chOff x="478536" y="1828800"/>
            <a:chExt cx="7324344" cy="1716405"/>
          </a:xfrm>
        </p:grpSpPr>
        <p:sp>
          <p:nvSpPr>
            <p:cNvPr id="10" name="Line 10"/>
            <p:cNvSpPr/>
            <p:nvPr/>
          </p:nvSpPr>
          <p:spPr>
            <a:xfrm>
              <a:off x="487680" y="1828800"/>
              <a:ext cx="7315200" cy="9525"/>
            </a:xfrm>
            <a:custGeom>
              <a:avLst/>
              <a:gdLst/>
              <a:ahLst/>
              <a:cxnLst/>
              <a:rect l="l" t="t" r="r" b="b"/>
              <a:pathLst>
                <a:path w="7315200" h="9525">
                  <a:moveTo>
                    <a:pt x="0" y="0"/>
                  </a:moveTo>
                  <a:lnTo>
                    <a:pt x="7315200" y="0"/>
                  </a:lnTo>
                </a:path>
              </a:pathLst>
            </a:custGeom>
            <a:noFill/>
            <a:ln w="15240">
              <a:solidFill>
                <a:srgbClr val="1760F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80060" y="1971675"/>
              <a:ext cx="2384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按业务域补充专业内容   </a:t>
              </a:r>
              <a:endParaRPr lang="zh-CN" sz="15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8536" y="2426970"/>
              <a:ext cx="14073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领域对象   </a:t>
              </a:r>
              <a:endParaRPr lang="zh-CN" sz="1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8536" y="2731770"/>
              <a:ext cx="11650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与关系   </a:t>
              </a:r>
              <a:endParaRPr lang="zh-CN" sz="1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576" y="2426970"/>
              <a:ext cx="9227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合格   </a:t>
              </a:r>
              <a:endParaRPr lang="zh-CN" sz="1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41576" y="2731770"/>
              <a:ext cx="9227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来源   </a:t>
              </a:r>
              <a:endParaRPr lang="zh-CN" sz="1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04616" y="2426970"/>
              <a:ext cx="14073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专业规则   </a:t>
              </a:r>
              <a:endParaRPr lang="zh-CN" sz="1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04616" y="2731770"/>
              <a:ext cx="16236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/ 分析能力   </a:t>
              </a:r>
              <a:endParaRPr lang="zh-CN" sz="1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67656" y="2426970"/>
              <a:ext cx="9227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成果   </a:t>
              </a:r>
              <a:endParaRPr lang="zh-CN" sz="1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67656" y="2731770"/>
              <a:ext cx="9227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表达   </a:t>
              </a:r>
              <a:endParaRPr lang="zh-CN" sz="1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30696" y="2426970"/>
              <a:ext cx="9227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验收   </a:t>
              </a:r>
              <a:endParaRPr lang="zh-CN" sz="1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30696" y="2731770"/>
              <a:ext cx="9227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输入   </a:t>
              </a:r>
              <a:endParaRPr lang="zh-CN" sz="180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0060" y="3251835"/>
              <a:ext cx="53966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让专业语义、判断依据与交付要求进入同一套工作方式。   </a:t>
              </a:r>
              <a:endParaRPr lang="zh-CN" sz="150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046720" y="1828800"/>
            <a:ext cx="3103011" cy="1764221"/>
            <a:chOff x="8046720" y="1828800"/>
            <a:chExt cx="3103011" cy="1764221"/>
          </a:xfrm>
        </p:grpSpPr>
        <p:sp>
          <p:nvSpPr>
            <p:cNvPr id="24" name="Line 24"/>
            <p:cNvSpPr/>
            <p:nvPr/>
          </p:nvSpPr>
          <p:spPr>
            <a:xfrm>
              <a:off x="8046720" y="1828800"/>
              <a:ext cx="9525" cy="1706880"/>
            </a:xfrm>
            <a:custGeom>
              <a:avLst/>
              <a:gdLst/>
              <a:ahLst/>
              <a:cxnLst/>
              <a:rect l="l" t="t" r="r" b="b"/>
              <a:pathLst>
                <a:path w="9525" h="1706880">
                  <a:moveTo>
                    <a:pt x="0" y="0"/>
                  </a:moveTo>
                  <a:lnTo>
                    <a:pt x="0" y="170688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20075" y="1931194"/>
              <a:ext cx="17229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业务域方向   </a:t>
              </a:r>
              <a:endParaRPr lang="zh-CN" sz="188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20837" y="2374106"/>
              <a:ext cx="292889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ERP 会计 / 预算 · 人力   </a:t>
              </a:r>
              <a:endParaRPr lang="zh-CN" sz="172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20837" y="2678906"/>
              <a:ext cx="182358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采购 / 供应链   </a:t>
              </a:r>
              <a:endParaRPr lang="zh-CN" sz="172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20837" y="2983706"/>
              <a:ext cx="225194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接口字段与主数据   </a:t>
              </a:r>
              <a:endParaRPr lang="zh-CN" sz="172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22742" y="3328988"/>
              <a:ext cx="2312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适配方向，非当前已接入   </a:t>
              </a:r>
              <a:endParaRPr lang="zh-CN" sz="1350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79679" y="3670459"/>
            <a:ext cx="11224641" cy="1267301"/>
            <a:chOff x="479679" y="3670459"/>
            <a:chExt cx="11224641" cy="1267301"/>
          </a:xfrm>
        </p:grpSpPr>
        <p:sp>
          <p:nvSpPr>
            <p:cNvPr id="31" name="TextBox 31"/>
            <p:cNvSpPr txBox="1"/>
            <p:nvPr/>
          </p:nvSpPr>
          <p:spPr>
            <a:xfrm>
              <a:off x="479679" y="3670459"/>
              <a:ext cx="48017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↓ 按领域适配，共用调查、成果与持续工作机制   </a:t>
              </a:r>
              <a:endParaRPr lang="zh-CN" sz="1580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87680" y="4084320"/>
              <a:ext cx="11216640" cy="853440"/>
            </a:xfrm>
            <a:prstGeom prst="rect">
              <a:avLst/>
            </a:prstGeom>
            <a:solidFill>
              <a:srgbClr val="003FA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2178" y="4211002"/>
              <a:ext cx="19564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目标与范围理解   </a:t>
              </a:r>
              <a:endParaRPr lang="zh-CN" sz="1650" b="1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3321" y="4540091"/>
              <a:ext cx="18591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明确本次专业工作   </a:t>
              </a:r>
              <a:endParaRPr lang="zh-CN" sz="1420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27298" y="4211002"/>
              <a:ext cx="19564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调查与分析组织   </a:t>
              </a:r>
              <a:endParaRPr lang="zh-CN" sz="1650" b="1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28441" y="4540091"/>
              <a:ext cx="16680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按目标组合能力   </a:t>
              </a:r>
              <a:endParaRPr lang="zh-CN" sz="1420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92418" y="4211002"/>
              <a:ext cx="19564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成果与证据关联   </a:t>
              </a:r>
              <a:endParaRPr lang="zh-CN" sz="1650" b="1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93561" y="4540091"/>
              <a:ext cx="18591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判断、依据与缺口   </a:t>
              </a:r>
              <a:endParaRPr lang="zh-CN" sz="1420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57538" y="4211002"/>
              <a:ext cx="24006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人工决定与持续修订   </a:t>
              </a:r>
              <a:endParaRPr lang="zh-CN" sz="1650" b="1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58681" y="4540091"/>
              <a:ext cx="22414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复核、交接与继续处理   </a:t>
              </a:r>
              <a:endParaRPr lang="zh-CN" sz="1420" dirty="0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78536" y="5181600"/>
            <a:ext cx="11225784" cy="706374"/>
            <a:chOff x="478536" y="5181600"/>
            <a:chExt cx="11225784" cy="706374"/>
          </a:xfrm>
        </p:grpSpPr>
        <p:sp>
          <p:nvSpPr>
            <p:cNvPr id="42" name="Line 42"/>
            <p:cNvSpPr/>
            <p:nvPr/>
          </p:nvSpPr>
          <p:spPr>
            <a:xfrm>
              <a:off x="487680" y="5181600"/>
              <a:ext cx="11216640" cy="9525"/>
            </a:xfrm>
            <a:custGeom>
              <a:avLst/>
              <a:gdLst/>
              <a:ahLst/>
              <a:cxnLst/>
              <a:rect l="l" t="t" r="r" b="b"/>
              <a:pathLst>
                <a:path w="11216640" h="9525">
                  <a:moveTo>
                    <a:pt x="0" y="0"/>
                  </a:moveTo>
                  <a:lnTo>
                    <a:pt x="11216640" y="0"/>
                  </a:lnTo>
                </a:path>
              </a:pathLst>
            </a:custGeom>
            <a:noFill/>
            <a:ln w="7620">
              <a:solidFill>
                <a:srgbClr val="BDCEE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80822" y="5279708"/>
              <a:ext cx="1418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独立受控扩展   </a:t>
              </a:r>
              <a:endParaRPr lang="zh-CN" sz="1350" b="1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8536" y="5535930"/>
              <a:ext cx="3103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自动测试与运行结果回收   </a:t>
              </a:r>
              <a:endParaRPr lang="zh-CN" sz="1800" b="1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406140" y="5324475"/>
              <a:ext cx="56591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2E50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验证准备 → 具备独立执行能力及环境、权限授权 → 受控执行   </a:t>
              </a:r>
              <a:endParaRPr lang="zh-CN" sz="1500" dirty="0">
                <a:solidFill>
                  <a:srgbClr val="162E50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07283" y="5592604"/>
              <a:ext cx="32266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5677D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独立执行扩展，非当前生产写入能力。   </a:t>
              </a:r>
              <a:endParaRPr lang="zh-CN" sz="1280" dirty="0">
                <a:solidFill>
                  <a:srgbClr val="55677D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150727" y="5929789"/>
            <a:ext cx="669544" cy="190690"/>
            <a:chOff x="11150727" y="5929789"/>
            <a:chExt cx="669544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11150727" y="592978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760F6"/>
                  </a:solidFill>
                  <a:latin typeface="微软雅黑" panose="020B0703020204020201" charset="-122"/>
                  <a:ea typeface="微软雅黑" panose="020B0703020204020201" charset="-122"/>
                  <a:cs typeface="微软雅黑" panose="020B0703020204020201" charset="-122"/>
                </a:rPr>
                <a:t>14 / 15   </a:t>
              </a:r>
              <a:endParaRPr lang="en-US" sz="980" dirty="0">
                <a:solidFill>
                  <a:srgbClr val="1760F6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28370" y="1778000"/>
            <a:ext cx="62941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9600" b="1">
                <a:gradFill>
                  <a:gsLst>
                    <a:gs pos="0">
                      <a:srgbClr val="008BF9"/>
                    </a:gs>
                    <a:gs pos="100000">
                      <a:srgbClr val="1941F4"/>
                    </a:gs>
                  </a:gsLst>
                  <a:lin ang="7200000" scaled="0"/>
                </a:gra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THANKS</a:t>
            </a:r>
            <a:endParaRPr lang="en-US" altLang="zh-CN" sz="9600" b="1">
              <a:gradFill>
                <a:gsLst>
                  <a:gs pos="0">
                    <a:srgbClr val="008BF9"/>
                  </a:gs>
                  <a:gs pos="100000">
                    <a:srgbClr val="1941F4"/>
                  </a:gs>
                </a:gsLst>
                <a:lin ang="7200000" scaled="0"/>
              </a:gra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8365" y="3862705"/>
            <a:ext cx="182245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500">
                <a:solidFill>
                  <a:schemeClr val="bg2">
                    <a:lumMod val="25000"/>
                  </a:schemeClr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</a:rPr>
              <a:t>谢谢聆听</a:t>
            </a:r>
            <a:endParaRPr lang="zh-CN" altLang="en-US" sz="2500">
              <a:solidFill>
                <a:schemeClr val="bg2">
                  <a:lumMod val="25000"/>
                </a:schemeClr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021715" y="3294380"/>
            <a:ext cx="1579245" cy="0"/>
          </a:xfrm>
          <a:prstGeom prst="line">
            <a:avLst/>
          </a:prstGeom>
          <a:ln w="38100" cap="flat" cmpd="sng">
            <a:solidFill>
              <a:srgbClr val="008BF9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2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3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4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5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6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7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8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9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10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11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12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13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14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15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16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17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18.xml><?xml version="1.0" encoding="utf-8"?>
<p:tagLst xmlns:p="http://schemas.openxmlformats.org/presentationml/2006/main">
  <p:tag name="KSO_WM_DIAGRAM_VIRTUALLY_FRAME" val="{&quot;height&quot;:164.4228346456693,&quot;left&quot;:63.55,&quot;top&quot;:213.75,&quot;width&quot;:652.95}"/>
</p:tagLst>
</file>

<file path=ppt/tags/tag19.xml><?xml version="1.0" encoding="utf-8"?>
<p:tagLst xmlns:p="http://schemas.openxmlformats.org/presentationml/2006/main">
  <p:tag name="KSO_WM_AICARD_INVALID" val="Invalid"/>
</p:tagLst>
</file>

<file path=ppt/tags/tag20.xml><?xml version="1.0" encoding="utf-8"?>
<p:tagLst xmlns:p="http://schemas.openxmlformats.org/presentationml/2006/main">
  <p:tag name="KSO_WM_AICARD_INVALID" val="Invalid"/>
</p:tagLst>
</file>

<file path=ppt/tags/tag21.xml><?xml version="1.0" encoding="utf-8"?>
<p:tagLst xmlns:p="http://schemas.openxmlformats.org/presentationml/2006/main">
  <p:tag name="KSO_WM_AICARD_INVALID" val="Invalid"/>
</p:tagLst>
</file>

<file path=ppt/tags/tag22.xml><?xml version="1.0" encoding="utf-8"?>
<p:tagLst xmlns:p="http://schemas.openxmlformats.org/presentationml/2006/main">
  <p:tag name="KSO_WM_AICARD_INVALID" val="Invalid"/>
</p:tagLst>
</file>

<file path=ppt/tags/tag23.xml><?xml version="1.0" encoding="utf-8"?>
<p:tagLst xmlns:p="http://schemas.openxmlformats.org/presentationml/2006/main">
  <p:tag name="KSO_WM_AICARD_INVALID" val="Invalid"/>
</p:tagLst>
</file>

<file path=ppt/tags/tag24.xml><?xml version="1.0" encoding="utf-8"?>
<p:tagLst xmlns:p="http://schemas.openxmlformats.org/presentationml/2006/main">
  <p:tag name="KSO_WM_AICARD_INVALID" val="Invalid"/>
</p:tagLst>
</file>

<file path=ppt/tags/tag25.xml><?xml version="1.0" encoding="utf-8"?>
<p:tagLst xmlns:p="http://schemas.openxmlformats.org/presentationml/2006/main">
  <p:tag name="KSO_WM_AICARD_INVALID" val="Invalid"/>
</p:tagLst>
</file>

<file path=ppt/tags/tag26.xml><?xml version="1.0" encoding="utf-8"?>
<p:tagLst xmlns:p="http://schemas.openxmlformats.org/presentationml/2006/main">
  <p:tag name="KSO_WM_AICARD_INVALID" val="Invalid"/>
</p:tagLst>
</file>

<file path=ppt/tags/tag27.xml><?xml version="1.0" encoding="utf-8"?>
<p:tagLst xmlns:p="http://schemas.openxmlformats.org/presentationml/2006/main">
  <p:tag name="KSO_WM_AICARD_INVALID" val="Invalid"/>
</p:tagLst>
</file>

<file path=ppt/tags/tag28.xml><?xml version="1.0" encoding="utf-8"?>
<p:tagLst xmlns:p="http://schemas.openxmlformats.org/presentationml/2006/main">
  <p:tag name="KSO_WM_AICARD_INVALID" val="Invalid"/>
</p:tagLst>
</file>

<file path=ppt/tags/tag29.xml><?xml version="1.0" encoding="utf-8"?>
<p:tagLst xmlns:p="http://schemas.openxmlformats.org/presentationml/2006/main">
  <p:tag name="KSO_WM_AICARD_INVALID" val="Invalid"/>
</p:tagLst>
</file>

<file path=ppt/tags/tag30.xml><?xml version="1.0" encoding="utf-8"?>
<p:tagLst xmlns:p="http://schemas.openxmlformats.org/presentationml/2006/main">
  <p:tag name="KSO_WM_AICARD_INVALID" val="Invalid"/>
</p:tagLst>
</file>

<file path=ppt/tags/tag31.xml><?xml version="1.0" encoding="utf-8"?>
<p:tagLst xmlns:p="http://schemas.openxmlformats.org/presentationml/2006/main">
  <p:tag name="KSO_WM_AICARD_INVALID" val="Invalid"/>
</p:tagLst>
</file>

<file path=ppt/tags/tag32.xml><?xml version="1.0" encoding="utf-8"?>
<p:tagLst xmlns:p="http://schemas.openxmlformats.org/presentationml/2006/main">
  <p:tag name="commondata" val="eyJoZGlkIjoiYjNiMDEzNjJmMTVkM2U5NTEyNDhmYTE0ZTBhMTg5ZTMifQ=="/>
</p:tagLst>
</file>

<file path=ppt/theme/theme1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Calibri">
      <a:majorFont>
        <a:latin typeface="微软雅黑"/>
        <a:ea typeface=""/>
        <a:cs typeface=""/>
        <a:font script="Jpan" typeface="メイリオ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メイリオ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5455</Words>
  <Application>WPS 演示</Application>
  <PresentationFormat>宽屏</PresentationFormat>
  <Paragraphs>792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宋体</vt:lpstr>
      <vt:lpstr>Arial Unicode MS</vt:lpstr>
      <vt:lpstr>汉仪书宋二KW</vt:lpstr>
      <vt:lpstr>Alibaba PuHuiTi R</vt:lpstr>
      <vt:lpstr>苹方-简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leishunkai</cp:lastModifiedBy>
  <cp:revision>66</cp:revision>
  <dcterms:created xsi:type="dcterms:W3CDTF">2026-09-08T02:12:48Z</dcterms:created>
  <dcterms:modified xsi:type="dcterms:W3CDTF">2026-09-08T02:12:48Z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2052-6.13.2.8926</vt:lpwstr>
  </property>
  <property fmtid="{D5CDD505-2E9C-101B-9397-08002B2CF9AE}" pid="3" name="ICV">
    <vt:lpwstr>61B30DD89A5832E54DFAB9641C8DBF9C</vt:lpwstr>
  </property>
</Properties>
</file>